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2" r:id="rId3"/>
    <p:sldId id="273" r:id="rId4"/>
    <p:sldId id="275" r:id="rId5"/>
    <p:sldId id="276" r:id="rId6"/>
    <p:sldId id="282" r:id="rId7"/>
    <p:sldId id="277" r:id="rId8"/>
    <p:sldId id="283" r:id="rId9"/>
    <p:sldId id="278" r:id="rId10"/>
    <p:sldId id="279" r:id="rId11"/>
    <p:sldId id="280" r:id="rId12"/>
    <p:sldId id="281"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029" autoAdjust="0"/>
    <p:restoredTop sz="95847" autoAdjust="0"/>
  </p:normalViewPr>
  <p:slideViewPr>
    <p:cSldViewPr>
      <p:cViewPr varScale="1">
        <p:scale>
          <a:sx n="83" d="100"/>
          <a:sy n="83" d="100"/>
        </p:scale>
        <p:origin x="869" y="77"/>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ATHAN GABRIEL LOOR BAUTISTA" userId="4234489a-f210-4949-b3ca-adca1d814dab" providerId="ADAL" clId="{766FDE8E-06EF-4E21-BC7E-D53B8367F1D7}"/>
    <pc:docChg chg="modSld">
      <pc:chgData name="JONATHAN GABRIEL LOOR BAUTISTA" userId="4234489a-f210-4949-b3ca-adca1d814dab" providerId="ADAL" clId="{766FDE8E-06EF-4E21-BC7E-D53B8367F1D7}" dt="2026-01-19T14:47:12.180" v="3" actId="20577"/>
      <pc:docMkLst>
        <pc:docMk/>
      </pc:docMkLst>
      <pc:sldChg chg="modSp mod">
        <pc:chgData name="JONATHAN GABRIEL LOOR BAUTISTA" userId="4234489a-f210-4949-b3ca-adca1d814dab" providerId="ADAL" clId="{766FDE8E-06EF-4E21-BC7E-D53B8367F1D7}" dt="2026-01-19T14:19:33.912" v="1" actId="20577"/>
        <pc:sldMkLst>
          <pc:docMk/>
          <pc:sldMk cId="4034665855" sldId="277"/>
        </pc:sldMkLst>
        <pc:spChg chg="mod">
          <ac:chgData name="JONATHAN GABRIEL LOOR BAUTISTA" userId="4234489a-f210-4949-b3ca-adca1d814dab" providerId="ADAL" clId="{766FDE8E-06EF-4E21-BC7E-D53B8367F1D7}" dt="2026-01-19T14:19:33.912" v="1" actId="20577"/>
          <ac:spMkLst>
            <pc:docMk/>
            <pc:sldMk cId="4034665855" sldId="277"/>
            <ac:spMk id="24579" creationId="{5BA47798-DAB5-C252-81B4-A7DAD61261FD}"/>
          </ac:spMkLst>
        </pc:spChg>
      </pc:sldChg>
      <pc:sldChg chg="modSp mod">
        <pc:chgData name="JONATHAN GABRIEL LOOR BAUTISTA" userId="4234489a-f210-4949-b3ca-adca1d814dab" providerId="ADAL" clId="{766FDE8E-06EF-4E21-BC7E-D53B8367F1D7}" dt="2026-01-19T14:47:12.180" v="3" actId="20577"/>
        <pc:sldMkLst>
          <pc:docMk/>
          <pc:sldMk cId="1147876043" sldId="281"/>
        </pc:sldMkLst>
        <pc:spChg chg="mod">
          <ac:chgData name="JONATHAN GABRIEL LOOR BAUTISTA" userId="4234489a-f210-4949-b3ca-adca1d814dab" providerId="ADAL" clId="{766FDE8E-06EF-4E21-BC7E-D53B8367F1D7}" dt="2026-01-19T14:47:12.180" v="3" actId="20577"/>
          <ac:spMkLst>
            <pc:docMk/>
            <pc:sldMk cId="1147876043" sldId="281"/>
            <ac:spMk id="24579" creationId="{B4559EFE-AB62-C68A-95B8-99E98D5F5FA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endParaRPr lang="es-ES" altLang="en-US"/>
          </a:p>
        </p:txBody>
      </p:sp>
      <p:sp>
        <p:nvSpPr>
          <p:cNvPr id="5" name="Footer Placeholder 4"/>
          <p:cNvSpPr>
            <a:spLocks noGrp="1"/>
          </p:cNvSpPr>
          <p:nvPr>
            <p:ph type="ftr" sz="quarter" idx="11"/>
          </p:nvPr>
        </p:nvSpPr>
        <p:spPr/>
        <p:txBody>
          <a:bodyPr/>
          <a:lstStyle/>
          <a:p>
            <a:endParaRPr lang="es-ES" altLang="en-US"/>
          </a:p>
        </p:txBody>
      </p:sp>
      <p:sp>
        <p:nvSpPr>
          <p:cNvPr id="6" name="Slide Number Placeholder 5"/>
          <p:cNvSpPr>
            <a:spLocks noGrp="1"/>
          </p:cNvSpPr>
          <p:nvPr>
            <p:ph type="sldNum" sz="quarter" idx="12"/>
          </p:nvPr>
        </p:nvSpPr>
        <p:spPr/>
        <p:txBody>
          <a:bodyPr/>
          <a:lstStyle/>
          <a:p>
            <a:fld id="{8861AAEE-B1CB-4409-AC48-B4C88EB5A83F}" type="slidenum">
              <a:rPr lang="es-ES" altLang="en-US" smtClean="0"/>
              <a:pPr/>
              <a:t>‹Nº›</a:t>
            </a:fld>
            <a:endParaRPr lang="es-ES" altLang="en-US"/>
          </a:p>
        </p:txBody>
      </p:sp>
    </p:spTree>
    <p:extLst>
      <p:ext uri="{BB962C8B-B14F-4D97-AF65-F5344CB8AC3E}">
        <p14:creationId xmlns:p14="http://schemas.microsoft.com/office/powerpoint/2010/main" val="439026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s-ES" altLang="en-US"/>
          </a:p>
        </p:txBody>
      </p:sp>
      <p:sp>
        <p:nvSpPr>
          <p:cNvPr id="5" name="Footer Placeholder 4"/>
          <p:cNvSpPr>
            <a:spLocks noGrp="1"/>
          </p:cNvSpPr>
          <p:nvPr>
            <p:ph type="ftr" sz="quarter" idx="11"/>
          </p:nvPr>
        </p:nvSpPr>
        <p:spPr/>
        <p:txBody>
          <a:bodyPr/>
          <a:lstStyle/>
          <a:p>
            <a:endParaRPr lang="es-ES" altLang="en-US"/>
          </a:p>
        </p:txBody>
      </p:sp>
      <p:sp>
        <p:nvSpPr>
          <p:cNvPr id="6" name="Slide Number Placeholder 5"/>
          <p:cNvSpPr>
            <a:spLocks noGrp="1"/>
          </p:cNvSpPr>
          <p:nvPr>
            <p:ph type="sldNum" sz="quarter" idx="12"/>
          </p:nvPr>
        </p:nvSpPr>
        <p:spPr/>
        <p:txBody>
          <a:bodyPr/>
          <a:lstStyle/>
          <a:p>
            <a:fld id="{66DEB28E-FB1D-4168-8929-5C31CA315BC9}" type="slidenum">
              <a:rPr lang="es-ES" altLang="en-US" smtClean="0"/>
              <a:pPr/>
              <a:t>‹Nº›</a:t>
            </a:fld>
            <a:endParaRPr lang="es-ES" altLang="en-US"/>
          </a:p>
        </p:txBody>
      </p:sp>
    </p:spTree>
    <p:extLst>
      <p:ext uri="{BB962C8B-B14F-4D97-AF65-F5344CB8AC3E}">
        <p14:creationId xmlns:p14="http://schemas.microsoft.com/office/powerpoint/2010/main" val="1922479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endParaRPr lang="es-ES" altLang="en-US"/>
          </a:p>
        </p:txBody>
      </p:sp>
      <p:sp>
        <p:nvSpPr>
          <p:cNvPr id="5" name="Footer Placeholder 4"/>
          <p:cNvSpPr>
            <a:spLocks noGrp="1"/>
          </p:cNvSpPr>
          <p:nvPr>
            <p:ph type="ftr" sz="quarter" idx="11"/>
          </p:nvPr>
        </p:nvSpPr>
        <p:spPr/>
        <p:txBody>
          <a:bodyPr/>
          <a:lstStyle/>
          <a:p>
            <a:endParaRPr lang="es-ES" altLang="en-US"/>
          </a:p>
        </p:txBody>
      </p:sp>
      <p:sp>
        <p:nvSpPr>
          <p:cNvPr id="6" name="Slide Number Placeholder 5"/>
          <p:cNvSpPr>
            <a:spLocks noGrp="1"/>
          </p:cNvSpPr>
          <p:nvPr>
            <p:ph type="sldNum" sz="quarter" idx="12"/>
          </p:nvPr>
        </p:nvSpPr>
        <p:spPr/>
        <p:txBody>
          <a:bodyPr/>
          <a:lstStyle/>
          <a:p>
            <a:fld id="{072C3167-C126-47F5-BA6A-1969A43FAEE4}" type="slidenum">
              <a:rPr lang="es-ES" altLang="en-US" smtClean="0"/>
              <a:pPr/>
              <a:t>‹Nº›</a:t>
            </a:fld>
            <a:endParaRPr lang="es-ES" altLang="en-US"/>
          </a:p>
        </p:txBody>
      </p:sp>
    </p:spTree>
    <p:extLst>
      <p:ext uri="{BB962C8B-B14F-4D97-AF65-F5344CB8AC3E}">
        <p14:creationId xmlns:p14="http://schemas.microsoft.com/office/powerpoint/2010/main" val="3796394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endParaRPr lang="es-ES" altLang="en-US"/>
          </a:p>
        </p:txBody>
      </p:sp>
      <p:sp>
        <p:nvSpPr>
          <p:cNvPr id="6" name="Footer Placeholder 5"/>
          <p:cNvSpPr>
            <a:spLocks noGrp="1"/>
          </p:cNvSpPr>
          <p:nvPr>
            <p:ph type="ftr" sz="quarter" idx="11"/>
          </p:nvPr>
        </p:nvSpPr>
        <p:spPr/>
        <p:txBody>
          <a:bodyPr/>
          <a:lstStyle/>
          <a:p>
            <a:endParaRPr lang="es-ES" altLang="en-US"/>
          </a:p>
        </p:txBody>
      </p:sp>
      <p:sp>
        <p:nvSpPr>
          <p:cNvPr id="7" name="Slide Number Placeholder 6"/>
          <p:cNvSpPr>
            <a:spLocks noGrp="1"/>
          </p:cNvSpPr>
          <p:nvPr>
            <p:ph type="sldNum" sz="quarter" idx="12"/>
          </p:nvPr>
        </p:nvSpPr>
        <p:spPr/>
        <p:txBody>
          <a:bodyPr/>
          <a:lstStyle/>
          <a:p>
            <a:fld id="{77922B72-CBDE-4E48-B0A3-67E9F34DE57E}" type="slidenum">
              <a:rPr lang="es-ES" altLang="en-US" smtClean="0"/>
              <a:pPr/>
              <a:t>‹Nº›</a:t>
            </a:fld>
            <a:endParaRPr lang="es-ES" altLang="en-US"/>
          </a:p>
        </p:txBody>
      </p:sp>
    </p:spTree>
    <p:extLst>
      <p:ext uri="{BB962C8B-B14F-4D97-AF65-F5344CB8AC3E}">
        <p14:creationId xmlns:p14="http://schemas.microsoft.com/office/powerpoint/2010/main" val="1345053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endParaRPr lang="es-ES" altLang="en-US"/>
          </a:p>
        </p:txBody>
      </p:sp>
      <p:sp>
        <p:nvSpPr>
          <p:cNvPr id="8" name="Footer Placeholder 7"/>
          <p:cNvSpPr>
            <a:spLocks noGrp="1"/>
          </p:cNvSpPr>
          <p:nvPr>
            <p:ph type="ftr" sz="quarter" idx="11"/>
          </p:nvPr>
        </p:nvSpPr>
        <p:spPr/>
        <p:txBody>
          <a:bodyPr/>
          <a:lstStyle/>
          <a:p>
            <a:endParaRPr lang="es-ES" altLang="en-US"/>
          </a:p>
        </p:txBody>
      </p:sp>
      <p:sp>
        <p:nvSpPr>
          <p:cNvPr id="9" name="Slide Number Placeholder 8"/>
          <p:cNvSpPr>
            <a:spLocks noGrp="1"/>
          </p:cNvSpPr>
          <p:nvPr>
            <p:ph type="sldNum" sz="quarter" idx="12"/>
          </p:nvPr>
        </p:nvSpPr>
        <p:spPr/>
        <p:txBody>
          <a:bodyPr/>
          <a:lstStyle/>
          <a:p>
            <a:fld id="{582A2665-CF16-4166-80EF-F84716260039}" type="slidenum">
              <a:rPr lang="es-ES" altLang="en-US" smtClean="0"/>
              <a:pPr/>
              <a:t>‹Nº›</a:t>
            </a:fld>
            <a:endParaRPr lang="es-ES" altLang="en-US"/>
          </a:p>
        </p:txBody>
      </p:sp>
    </p:spTree>
    <p:extLst>
      <p:ext uri="{BB962C8B-B14F-4D97-AF65-F5344CB8AC3E}">
        <p14:creationId xmlns:p14="http://schemas.microsoft.com/office/powerpoint/2010/main" val="392284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endParaRPr lang="es-ES" altLang="en-US"/>
          </a:p>
        </p:txBody>
      </p:sp>
      <p:sp>
        <p:nvSpPr>
          <p:cNvPr id="4" name="Footer Placeholder 3"/>
          <p:cNvSpPr>
            <a:spLocks noGrp="1"/>
          </p:cNvSpPr>
          <p:nvPr>
            <p:ph type="ftr" sz="quarter" idx="11"/>
          </p:nvPr>
        </p:nvSpPr>
        <p:spPr/>
        <p:txBody>
          <a:bodyPr/>
          <a:lstStyle/>
          <a:p>
            <a:endParaRPr lang="es-ES" altLang="en-US"/>
          </a:p>
        </p:txBody>
      </p:sp>
      <p:sp>
        <p:nvSpPr>
          <p:cNvPr id="5" name="Slide Number Placeholder 4"/>
          <p:cNvSpPr>
            <a:spLocks noGrp="1"/>
          </p:cNvSpPr>
          <p:nvPr>
            <p:ph type="sldNum" sz="quarter" idx="12"/>
          </p:nvPr>
        </p:nvSpPr>
        <p:spPr/>
        <p:txBody>
          <a:bodyPr/>
          <a:lstStyle/>
          <a:p>
            <a:fld id="{48CF44F9-62F0-4245-9F46-5148319AB030}" type="slidenum">
              <a:rPr lang="es-ES" altLang="en-US" smtClean="0"/>
              <a:pPr/>
              <a:t>‹Nº›</a:t>
            </a:fld>
            <a:endParaRPr lang="es-ES" altLang="en-US"/>
          </a:p>
        </p:txBody>
      </p:sp>
    </p:spTree>
    <p:extLst>
      <p:ext uri="{BB962C8B-B14F-4D97-AF65-F5344CB8AC3E}">
        <p14:creationId xmlns:p14="http://schemas.microsoft.com/office/powerpoint/2010/main" val="772945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s-ES" altLang="en-US"/>
          </a:p>
        </p:txBody>
      </p:sp>
      <p:sp>
        <p:nvSpPr>
          <p:cNvPr id="3" name="Footer Placeholder 2"/>
          <p:cNvSpPr>
            <a:spLocks noGrp="1"/>
          </p:cNvSpPr>
          <p:nvPr>
            <p:ph type="ftr" sz="quarter" idx="11"/>
          </p:nvPr>
        </p:nvSpPr>
        <p:spPr/>
        <p:txBody>
          <a:bodyPr/>
          <a:lstStyle/>
          <a:p>
            <a:endParaRPr lang="es-ES" altLang="en-US"/>
          </a:p>
        </p:txBody>
      </p:sp>
      <p:sp>
        <p:nvSpPr>
          <p:cNvPr id="4" name="Slide Number Placeholder 3"/>
          <p:cNvSpPr>
            <a:spLocks noGrp="1"/>
          </p:cNvSpPr>
          <p:nvPr>
            <p:ph type="sldNum" sz="quarter" idx="12"/>
          </p:nvPr>
        </p:nvSpPr>
        <p:spPr/>
        <p:txBody>
          <a:bodyPr/>
          <a:lstStyle/>
          <a:p>
            <a:fld id="{A76BBF86-F4B5-491B-B6E7-AEAE5525630C}" type="slidenum">
              <a:rPr lang="es-ES" altLang="en-US" smtClean="0"/>
              <a:pPr/>
              <a:t>‹Nº›</a:t>
            </a:fld>
            <a:endParaRPr lang="es-ES" altLang="en-US"/>
          </a:p>
        </p:txBody>
      </p:sp>
    </p:spTree>
    <p:extLst>
      <p:ext uri="{BB962C8B-B14F-4D97-AF65-F5344CB8AC3E}">
        <p14:creationId xmlns:p14="http://schemas.microsoft.com/office/powerpoint/2010/main" val="1690215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endParaRPr lang="es-ES" altLang="en-US"/>
          </a:p>
        </p:txBody>
      </p:sp>
      <p:sp>
        <p:nvSpPr>
          <p:cNvPr id="6" name="Footer Placeholder 5"/>
          <p:cNvSpPr>
            <a:spLocks noGrp="1"/>
          </p:cNvSpPr>
          <p:nvPr>
            <p:ph type="ftr" sz="quarter" idx="11"/>
          </p:nvPr>
        </p:nvSpPr>
        <p:spPr/>
        <p:txBody>
          <a:bodyPr/>
          <a:lstStyle/>
          <a:p>
            <a:endParaRPr lang="es-ES" altLang="en-US"/>
          </a:p>
        </p:txBody>
      </p:sp>
      <p:sp>
        <p:nvSpPr>
          <p:cNvPr id="7" name="Slide Number Placeholder 6"/>
          <p:cNvSpPr>
            <a:spLocks noGrp="1"/>
          </p:cNvSpPr>
          <p:nvPr>
            <p:ph type="sldNum" sz="quarter" idx="12"/>
          </p:nvPr>
        </p:nvSpPr>
        <p:spPr/>
        <p:txBody>
          <a:bodyPr/>
          <a:lstStyle/>
          <a:p>
            <a:fld id="{B5A3E014-B337-4C44-917C-31E944BB8D55}" type="slidenum">
              <a:rPr lang="es-ES" altLang="en-US" smtClean="0"/>
              <a:pPr/>
              <a:t>‹Nº›</a:t>
            </a:fld>
            <a:endParaRPr lang="es-ES" altLang="en-US"/>
          </a:p>
        </p:txBody>
      </p:sp>
    </p:spTree>
    <p:extLst>
      <p:ext uri="{BB962C8B-B14F-4D97-AF65-F5344CB8AC3E}">
        <p14:creationId xmlns:p14="http://schemas.microsoft.com/office/powerpoint/2010/main" val="1578251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endParaRPr lang="es-ES" altLang="en-US"/>
          </a:p>
        </p:txBody>
      </p:sp>
      <p:sp>
        <p:nvSpPr>
          <p:cNvPr id="6" name="Footer Placeholder 5"/>
          <p:cNvSpPr>
            <a:spLocks noGrp="1"/>
          </p:cNvSpPr>
          <p:nvPr>
            <p:ph type="ftr" sz="quarter" idx="11"/>
          </p:nvPr>
        </p:nvSpPr>
        <p:spPr/>
        <p:txBody>
          <a:bodyPr/>
          <a:lstStyle/>
          <a:p>
            <a:endParaRPr lang="es-ES" altLang="en-US"/>
          </a:p>
        </p:txBody>
      </p:sp>
      <p:sp>
        <p:nvSpPr>
          <p:cNvPr id="7" name="Slide Number Placeholder 6"/>
          <p:cNvSpPr>
            <a:spLocks noGrp="1"/>
          </p:cNvSpPr>
          <p:nvPr>
            <p:ph type="sldNum" sz="quarter" idx="12"/>
          </p:nvPr>
        </p:nvSpPr>
        <p:spPr/>
        <p:txBody>
          <a:bodyPr/>
          <a:lstStyle/>
          <a:p>
            <a:fld id="{B5402505-0CDF-403D-BD97-5F8C25CF30E3}" type="slidenum">
              <a:rPr lang="es-ES" altLang="en-US" smtClean="0"/>
              <a:pPr/>
              <a:t>‹Nº›</a:t>
            </a:fld>
            <a:endParaRPr lang="es-ES" altLang="en-US"/>
          </a:p>
        </p:txBody>
      </p:sp>
    </p:spTree>
    <p:extLst>
      <p:ext uri="{BB962C8B-B14F-4D97-AF65-F5344CB8AC3E}">
        <p14:creationId xmlns:p14="http://schemas.microsoft.com/office/powerpoint/2010/main" val="2456272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s-ES" altLang="en-US"/>
          </a:p>
        </p:txBody>
      </p:sp>
      <p:sp>
        <p:nvSpPr>
          <p:cNvPr id="5" name="Footer Placeholder 4"/>
          <p:cNvSpPr>
            <a:spLocks noGrp="1"/>
          </p:cNvSpPr>
          <p:nvPr>
            <p:ph type="ftr" sz="quarter" idx="11"/>
          </p:nvPr>
        </p:nvSpPr>
        <p:spPr/>
        <p:txBody>
          <a:bodyPr/>
          <a:lstStyle/>
          <a:p>
            <a:endParaRPr lang="es-ES" altLang="en-US"/>
          </a:p>
        </p:txBody>
      </p:sp>
      <p:sp>
        <p:nvSpPr>
          <p:cNvPr id="6" name="Slide Number Placeholder 5"/>
          <p:cNvSpPr>
            <a:spLocks noGrp="1"/>
          </p:cNvSpPr>
          <p:nvPr>
            <p:ph type="sldNum" sz="quarter" idx="12"/>
          </p:nvPr>
        </p:nvSpPr>
        <p:spPr/>
        <p:txBody>
          <a:bodyPr/>
          <a:lstStyle/>
          <a:p>
            <a:fld id="{4B261E40-AEE7-470E-9981-D707E1CE8AB3}" type="slidenum">
              <a:rPr lang="es-ES" altLang="en-US" smtClean="0"/>
              <a:pPr/>
              <a:t>‹Nº›</a:t>
            </a:fld>
            <a:endParaRPr lang="es-ES" altLang="en-US"/>
          </a:p>
        </p:txBody>
      </p:sp>
    </p:spTree>
    <p:extLst>
      <p:ext uri="{BB962C8B-B14F-4D97-AF65-F5344CB8AC3E}">
        <p14:creationId xmlns:p14="http://schemas.microsoft.com/office/powerpoint/2010/main" val="41580618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s-ES" altLang="en-US"/>
          </a:p>
        </p:txBody>
      </p:sp>
      <p:sp>
        <p:nvSpPr>
          <p:cNvPr id="5" name="Footer Placeholder 4"/>
          <p:cNvSpPr>
            <a:spLocks noGrp="1"/>
          </p:cNvSpPr>
          <p:nvPr>
            <p:ph type="ftr" sz="quarter" idx="11"/>
          </p:nvPr>
        </p:nvSpPr>
        <p:spPr/>
        <p:txBody>
          <a:bodyPr/>
          <a:lstStyle/>
          <a:p>
            <a:endParaRPr lang="es-ES" altLang="en-US"/>
          </a:p>
        </p:txBody>
      </p:sp>
      <p:sp>
        <p:nvSpPr>
          <p:cNvPr id="6" name="Slide Number Placeholder 5"/>
          <p:cNvSpPr>
            <a:spLocks noGrp="1"/>
          </p:cNvSpPr>
          <p:nvPr>
            <p:ph type="sldNum" sz="quarter" idx="12"/>
          </p:nvPr>
        </p:nvSpPr>
        <p:spPr/>
        <p:txBody>
          <a:bodyPr/>
          <a:lstStyle/>
          <a:p>
            <a:fld id="{AF68B4A9-B335-42E7-A1F8-0274A5A9F227}" type="slidenum">
              <a:rPr lang="es-ES" altLang="en-US" smtClean="0"/>
              <a:pPr/>
              <a:t>‹Nº›</a:t>
            </a:fld>
            <a:endParaRPr lang="es-ES" altLang="en-US"/>
          </a:p>
        </p:txBody>
      </p:sp>
    </p:spTree>
    <p:extLst>
      <p:ext uri="{BB962C8B-B14F-4D97-AF65-F5344CB8AC3E}">
        <p14:creationId xmlns:p14="http://schemas.microsoft.com/office/powerpoint/2010/main" val="2548350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ES"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5E0ED4-231A-4844-B614-AE1835457F67}" type="slidenum">
              <a:rPr lang="es-ES" altLang="en-US" smtClean="0"/>
              <a:pPr/>
              <a:t>‹Nº›</a:t>
            </a:fld>
            <a:endParaRPr lang="es-ES" altLang="en-US"/>
          </a:p>
        </p:txBody>
      </p:sp>
    </p:spTree>
    <p:extLst>
      <p:ext uri="{BB962C8B-B14F-4D97-AF65-F5344CB8AC3E}">
        <p14:creationId xmlns:p14="http://schemas.microsoft.com/office/powerpoint/2010/main" val="41308649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631504" y="2420943"/>
            <a:ext cx="9433048" cy="1470025"/>
          </a:xfrm>
        </p:spPr>
        <p:txBody>
          <a:bodyPr anchor="ctr"/>
          <a:lstStyle/>
          <a:p>
            <a:r>
              <a:rPr lang="es-UY" altLang="en-US" sz="3200" b="1" dirty="0">
                <a:solidFill>
                  <a:schemeClr val="bg1"/>
                </a:solidFill>
              </a:rPr>
              <a:t>MÁQUINAS TÉRMICAS</a:t>
            </a:r>
            <a:endParaRPr lang="es-ES" altLang="en-US" sz="3200" b="1" dirty="0">
              <a:solidFill>
                <a:schemeClr val="bg1"/>
              </a:solidFill>
            </a:endParaRPr>
          </a:p>
        </p:txBody>
      </p:sp>
      <p:sp>
        <p:nvSpPr>
          <p:cNvPr id="2" name="CuadroTexto 1"/>
          <p:cNvSpPr txBox="1"/>
          <p:nvPr/>
        </p:nvSpPr>
        <p:spPr>
          <a:xfrm>
            <a:off x="10560496" y="6417253"/>
            <a:ext cx="1512168" cy="369332"/>
          </a:xfrm>
          <a:prstGeom prst="rect">
            <a:avLst/>
          </a:prstGeom>
          <a:solidFill>
            <a:schemeClr val="bg1"/>
          </a:solidFill>
          <a:ln>
            <a:noFill/>
          </a:ln>
        </p:spPr>
        <p:txBody>
          <a:bodyPr wrap="square" rtlCol="0">
            <a:spAutoFit/>
          </a:bodyPr>
          <a:lstStyle/>
          <a:p>
            <a:endParaRPr lang="en-US" dirty="0"/>
          </a:p>
        </p:txBody>
      </p:sp>
      <p:sp>
        <p:nvSpPr>
          <p:cNvPr id="4" name="Rectangle 2"/>
          <p:cNvSpPr txBox="1">
            <a:spLocks noChangeArrowheads="1"/>
          </p:cNvSpPr>
          <p:nvPr/>
        </p:nvSpPr>
        <p:spPr bwMode="auto">
          <a:xfrm>
            <a:off x="1631504" y="440748"/>
            <a:ext cx="8928992" cy="147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60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s-UY" altLang="en-US" sz="2800" b="1" dirty="0">
                <a:solidFill>
                  <a:schemeClr val="tx1"/>
                </a:solidFill>
              </a:rPr>
              <a:t>ESCUELA POLITÉCNICA NACIONAL</a:t>
            </a:r>
          </a:p>
          <a:p>
            <a:endParaRPr lang="es-UY" altLang="en-US" sz="2800" b="1" dirty="0">
              <a:solidFill>
                <a:schemeClr val="tx1"/>
              </a:solidFill>
            </a:endParaRPr>
          </a:p>
          <a:p>
            <a:r>
              <a:rPr lang="es-ES" altLang="en-US" sz="2800" b="1" dirty="0">
                <a:solidFill>
                  <a:schemeClr val="tx1"/>
                </a:solidFill>
              </a:rPr>
              <a:t>TÉCNOLOGÍA SUPERIOR EN ELECTROMECÁNICA</a:t>
            </a:r>
          </a:p>
        </p:txBody>
      </p:sp>
      <p:sp>
        <p:nvSpPr>
          <p:cNvPr id="5" name="Rectangle 2"/>
          <p:cNvSpPr txBox="1">
            <a:spLocks noChangeArrowheads="1"/>
          </p:cNvSpPr>
          <p:nvPr/>
        </p:nvSpPr>
        <p:spPr bwMode="auto">
          <a:xfrm>
            <a:off x="1559496" y="4509125"/>
            <a:ext cx="9793088" cy="147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60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s-UY" altLang="en-US" sz="2800" b="1" dirty="0">
                <a:solidFill>
                  <a:schemeClr val="tx1"/>
                </a:solidFill>
              </a:rPr>
              <a:t>TEMA: </a:t>
            </a:r>
            <a:r>
              <a:rPr lang="es-ES" altLang="en-US" sz="2800" b="1" dirty="0">
                <a:solidFill>
                  <a:schemeClr val="tx1"/>
                </a:solidFill>
              </a:rPr>
              <a:t>MOTORES DE COMBUSTIÓN INTERNA</a:t>
            </a:r>
          </a:p>
          <a:p>
            <a:endParaRPr lang="es-ES" altLang="en-US" sz="2800" b="1" dirty="0">
              <a:solidFill>
                <a:schemeClr val="tx1"/>
              </a:solidFill>
            </a:endParaRPr>
          </a:p>
          <a:p>
            <a:r>
              <a:rPr lang="es-ES" altLang="en-US" sz="2800" b="1" dirty="0">
                <a:solidFill>
                  <a:schemeClr val="tx1"/>
                </a:solidFill>
              </a:rPr>
              <a:t>Docente: Jonathan Loor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07368" y="333375"/>
            <a:ext cx="9814545" cy="1143000"/>
          </a:xfrm>
        </p:spPr>
        <p:txBody>
          <a:bodyPr>
            <a:normAutofit fontScale="90000"/>
          </a:bodyPr>
          <a:lstStyle/>
          <a:p>
            <a:r>
              <a:rPr lang="es-ES" altLang="en-US" sz="4000" dirty="0">
                <a:solidFill>
                  <a:schemeClr val="bg1"/>
                </a:solidFill>
              </a:rPr>
              <a:t>Motores de combustión interna / Ciclo Otto / Diesel </a:t>
            </a:r>
          </a:p>
        </p:txBody>
      </p:sp>
      <p:sp>
        <p:nvSpPr>
          <p:cNvPr id="24579" name="Rectangle 3"/>
          <p:cNvSpPr>
            <a:spLocks noGrp="1" noChangeArrowheads="1"/>
          </p:cNvSpPr>
          <p:nvPr>
            <p:ph idx="1"/>
          </p:nvPr>
        </p:nvSpPr>
        <p:spPr>
          <a:xfrm>
            <a:off x="407368" y="1600200"/>
            <a:ext cx="11521279" cy="5068888"/>
          </a:xfrm>
        </p:spPr>
        <p:txBody>
          <a:bodyPr>
            <a:normAutofit/>
          </a:bodyPr>
          <a:lstStyle/>
          <a:p>
            <a:r>
              <a:rPr lang="es-EC" sz="2400" u="sng" dirty="0">
                <a:solidFill>
                  <a:prstClr val="black"/>
                </a:solidFill>
              </a:rPr>
              <a:t>Ciclo de potencia de gas</a:t>
            </a:r>
            <a:r>
              <a:rPr lang="es-EC" sz="2400" dirty="0">
                <a:solidFill>
                  <a:prstClr val="black"/>
                </a:solidFill>
              </a:rPr>
              <a:t>		Idealizaciones  </a:t>
            </a:r>
            <a:r>
              <a:rPr lang="es-EC" sz="2400" dirty="0">
                <a:solidFill>
                  <a:prstClr val="black"/>
                </a:solidFill>
                <a:sym typeface="Wingdings" panose="05000000000000000000" pitchFamily="2" charset="2"/>
              </a:rPr>
              <a:t> </a:t>
            </a:r>
            <a:r>
              <a:rPr lang="es-EC" sz="2400" dirty="0">
                <a:solidFill>
                  <a:prstClr val="black"/>
                </a:solidFill>
                <a:highlight>
                  <a:srgbClr val="00FF00"/>
                </a:highlight>
                <a:sym typeface="Wingdings" panose="05000000000000000000" pitchFamily="2" charset="2"/>
              </a:rPr>
              <a:t>procesos isentrópicos</a:t>
            </a:r>
            <a:endParaRPr lang="es-EC" sz="2400" u="sng" dirty="0">
              <a:solidFill>
                <a:prstClr val="black"/>
              </a:solidFill>
              <a:highlight>
                <a:srgbClr val="00FF00"/>
              </a:highlight>
            </a:endParaRPr>
          </a:p>
        </p:txBody>
      </p:sp>
      <p:sp>
        <p:nvSpPr>
          <p:cNvPr id="6" name="CuadroTexto 5"/>
          <p:cNvSpPr txBox="1"/>
          <p:nvPr/>
        </p:nvSpPr>
        <p:spPr>
          <a:xfrm>
            <a:off x="9756292" y="6423581"/>
            <a:ext cx="2316371" cy="369332"/>
          </a:xfrm>
          <a:prstGeom prst="rect">
            <a:avLst/>
          </a:prstGeom>
          <a:solidFill>
            <a:schemeClr val="bg1"/>
          </a:solidFill>
          <a:ln>
            <a:noFill/>
          </a:ln>
        </p:spPr>
        <p:txBody>
          <a:bodyPr wrap="square" rtlCol="0">
            <a:spAutoFit/>
          </a:bodyPr>
          <a:lstStyle/>
          <a:p>
            <a:endParaRPr lang="en-US" dirty="0"/>
          </a:p>
        </p:txBody>
      </p:sp>
      <p:sp>
        <p:nvSpPr>
          <p:cNvPr id="2" name="CuadroTexto 1">
            <a:extLst>
              <a:ext uri="{FF2B5EF4-FFF2-40B4-BE49-F238E27FC236}">
                <a16:creationId xmlns:a16="http://schemas.microsoft.com/office/drawing/2014/main" id="{70A616DA-3EC7-02A0-522C-8AA43AE202AB}"/>
              </a:ext>
            </a:extLst>
          </p:cNvPr>
          <p:cNvSpPr txBox="1"/>
          <p:nvPr/>
        </p:nvSpPr>
        <p:spPr>
          <a:xfrm>
            <a:off x="5087888" y="5733256"/>
            <a:ext cx="1080120" cy="369332"/>
          </a:xfrm>
          <a:prstGeom prst="rect">
            <a:avLst/>
          </a:prstGeom>
          <a:solidFill>
            <a:schemeClr val="bg1"/>
          </a:solidFill>
          <a:ln>
            <a:noFill/>
          </a:ln>
        </p:spPr>
        <p:txBody>
          <a:bodyPr wrap="square" rtlCol="0">
            <a:spAutoFit/>
          </a:bodyPr>
          <a:lstStyle/>
          <a:p>
            <a:endParaRPr lang="es-EC" dirty="0"/>
          </a:p>
        </p:txBody>
      </p:sp>
      <p:sp>
        <p:nvSpPr>
          <p:cNvPr id="10" name="CuadroTexto 9">
            <a:extLst>
              <a:ext uri="{FF2B5EF4-FFF2-40B4-BE49-F238E27FC236}">
                <a16:creationId xmlns:a16="http://schemas.microsoft.com/office/drawing/2014/main" id="{94CACFEE-9880-B7C8-5166-18AB0BF050DF}"/>
              </a:ext>
            </a:extLst>
          </p:cNvPr>
          <p:cNvSpPr txBox="1"/>
          <p:nvPr/>
        </p:nvSpPr>
        <p:spPr>
          <a:xfrm>
            <a:off x="9264352" y="4509120"/>
            <a:ext cx="576064" cy="369332"/>
          </a:xfrm>
          <a:prstGeom prst="rect">
            <a:avLst/>
          </a:prstGeom>
          <a:solidFill>
            <a:schemeClr val="bg1"/>
          </a:solidFill>
          <a:ln>
            <a:noFill/>
          </a:ln>
        </p:spPr>
        <p:txBody>
          <a:bodyPr wrap="square" rtlCol="0">
            <a:spAutoFit/>
          </a:bodyPr>
          <a:lstStyle/>
          <a:p>
            <a:endParaRPr lang="es-EC" dirty="0"/>
          </a:p>
        </p:txBody>
      </p:sp>
      <p:pic>
        <p:nvPicPr>
          <p:cNvPr id="3" name="Picture 2">
            <a:extLst>
              <a:ext uri="{FF2B5EF4-FFF2-40B4-BE49-F238E27FC236}">
                <a16:creationId xmlns:a16="http://schemas.microsoft.com/office/drawing/2014/main" id="{179D3009-EB8F-58D0-307C-490D5DAC6BD8}"/>
              </a:ext>
            </a:extLst>
          </p:cNvPr>
          <p:cNvPicPr>
            <a:picLocks noChangeAspect="1"/>
          </p:cNvPicPr>
          <p:nvPr/>
        </p:nvPicPr>
        <p:blipFill>
          <a:blip r:embed="rId3"/>
          <a:stretch>
            <a:fillRect/>
          </a:stretch>
        </p:blipFill>
        <p:spPr>
          <a:xfrm>
            <a:off x="407368" y="2348880"/>
            <a:ext cx="3080774" cy="3049444"/>
          </a:xfrm>
          <a:prstGeom prst="rect">
            <a:avLst/>
          </a:prstGeom>
        </p:spPr>
      </p:pic>
      <p:pic>
        <p:nvPicPr>
          <p:cNvPr id="4" name="Picture 4">
            <a:extLst>
              <a:ext uri="{FF2B5EF4-FFF2-40B4-BE49-F238E27FC236}">
                <a16:creationId xmlns:a16="http://schemas.microsoft.com/office/drawing/2014/main" id="{0DA9111F-F3AA-B977-4D4D-B68AF969FAED}"/>
              </a:ext>
            </a:extLst>
          </p:cNvPr>
          <p:cNvPicPr>
            <a:picLocks noChangeAspect="1"/>
          </p:cNvPicPr>
          <p:nvPr/>
        </p:nvPicPr>
        <p:blipFill>
          <a:blip r:embed="rId4"/>
          <a:stretch>
            <a:fillRect/>
          </a:stretch>
        </p:blipFill>
        <p:spPr>
          <a:xfrm>
            <a:off x="394008" y="5484790"/>
            <a:ext cx="3671305" cy="866263"/>
          </a:xfrm>
          <a:prstGeom prst="rect">
            <a:avLst/>
          </a:prstGeom>
        </p:spPr>
      </p:pic>
      <p:pic>
        <p:nvPicPr>
          <p:cNvPr id="5" name="Picture 5">
            <a:extLst>
              <a:ext uri="{FF2B5EF4-FFF2-40B4-BE49-F238E27FC236}">
                <a16:creationId xmlns:a16="http://schemas.microsoft.com/office/drawing/2014/main" id="{48E58963-6871-05E2-DFC0-5B9E691717AF}"/>
              </a:ext>
            </a:extLst>
          </p:cNvPr>
          <p:cNvPicPr>
            <a:picLocks noChangeAspect="1"/>
          </p:cNvPicPr>
          <p:nvPr/>
        </p:nvPicPr>
        <p:blipFill>
          <a:blip r:embed="rId5"/>
          <a:stretch>
            <a:fillRect/>
          </a:stretch>
        </p:blipFill>
        <p:spPr>
          <a:xfrm>
            <a:off x="4871864" y="2035666"/>
            <a:ext cx="6172200" cy="1971675"/>
          </a:xfrm>
          <a:prstGeom prst="rect">
            <a:avLst/>
          </a:prstGeom>
        </p:spPr>
      </p:pic>
      <p:sp>
        <p:nvSpPr>
          <p:cNvPr id="7" name="1 Título">
            <a:extLst>
              <a:ext uri="{FF2B5EF4-FFF2-40B4-BE49-F238E27FC236}">
                <a16:creationId xmlns:a16="http://schemas.microsoft.com/office/drawing/2014/main" id="{EB7EAC22-FEB5-3BD8-0F95-1CB09451DF87}"/>
              </a:ext>
            </a:extLst>
          </p:cNvPr>
          <p:cNvSpPr txBox="1">
            <a:spLocks/>
          </p:cNvSpPr>
          <p:nvPr/>
        </p:nvSpPr>
        <p:spPr>
          <a:xfrm>
            <a:off x="3501502" y="4117722"/>
            <a:ext cx="8229600" cy="576064"/>
          </a:xfrm>
          <a:prstGeom prst="rect">
            <a:avLst/>
          </a:prstGeom>
        </p:spPr>
        <p:txBody>
          <a:bodyPr vert="horz" lIns="45720" tIns="0" rIns="45720" bIns="0" anchor="b">
            <a:normAutofit/>
            <a:scene3d>
              <a:camera prst="orthographicFront"/>
              <a:lightRig rig="soft" dir="t">
                <a:rot lat="0" lon="0" rev="17220000"/>
              </a:lightRig>
            </a:scene3d>
            <a:sp3d prstMaterial="softEdge">
              <a:bevelT w="38100" h="38100"/>
            </a:sp3d>
          </a:bodyPr>
          <a:lstStyle>
            <a:lvl1pPr algn="ctr" rtl="0" eaLnBrk="1" latinLnBrk="0" hangingPunct="1">
              <a:spcBef>
                <a:spcPct val="0"/>
              </a:spcBef>
              <a:buNone/>
              <a:defRPr kumimoji="0" sz="4800" b="1" kern="1200"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latin typeface="+mj-lt"/>
                <a:ea typeface="+mj-ea"/>
                <a:cs typeface="+mj-cs"/>
              </a:defRPr>
            </a:lvl1pPr>
          </a:lstStyle>
          <a:p>
            <a:r>
              <a:rPr lang="es-EC" sz="3000" u="sng" dirty="0">
                <a:solidFill>
                  <a:prstClr val="black"/>
                </a:solidFill>
              </a:rPr>
              <a:t>Suposiciones de aire estándar</a:t>
            </a:r>
          </a:p>
        </p:txBody>
      </p:sp>
      <p:pic>
        <p:nvPicPr>
          <p:cNvPr id="8" name="Picture 14">
            <a:extLst>
              <a:ext uri="{FF2B5EF4-FFF2-40B4-BE49-F238E27FC236}">
                <a16:creationId xmlns:a16="http://schemas.microsoft.com/office/drawing/2014/main" id="{932FD203-6FFC-899C-FE5A-3C8B573D4473}"/>
              </a:ext>
            </a:extLst>
          </p:cNvPr>
          <p:cNvPicPr>
            <a:picLocks noChangeAspect="1"/>
          </p:cNvPicPr>
          <p:nvPr/>
        </p:nvPicPr>
        <p:blipFill>
          <a:blip r:embed="rId6"/>
          <a:stretch>
            <a:fillRect/>
          </a:stretch>
        </p:blipFill>
        <p:spPr>
          <a:xfrm>
            <a:off x="4871864" y="4818006"/>
            <a:ext cx="3753745" cy="1607072"/>
          </a:xfrm>
          <a:prstGeom prst="rect">
            <a:avLst/>
          </a:prstGeom>
        </p:spPr>
      </p:pic>
      <p:pic>
        <p:nvPicPr>
          <p:cNvPr id="9" name="Picture 15">
            <a:extLst>
              <a:ext uri="{FF2B5EF4-FFF2-40B4-BE49-F238E27FC236}">
                <a16:creationId xmlns:a16="http://schemas.microsoft.com/office/drawing/2014/main" id="{92AA77C2-4540-E71F-604C-D1AE9639E689}"/>
              </a:ext>
            </a:extLst>
          </p:cNvPr>
          <p:cNvPicPr>
            <a:picLocks noChangeAspect="1"/>
          </p:cNvPicPr>
          <p:nvPr/>
        </p:nvPicPr>
        <p:blipFill>
          <a:blip r:embed="rId7"/>
          <a:stretch>
            <a:fillRect/>
          </a:stretch>
        </p:blipFill>
        <p:spPr>
          <a:xfrm>
            <a:off x="8676342" y="4693786"/>
            <a:ext cx="3178538" cy="1704083"/>
          </a:xfrm>
          <a:prstGeom prst="rect">
            <a:avLst/>
          </a:prstGeom>
        </p:spPr>
      </p:pic>
      <p:sp>
        <p:nvSpPr>
          <p:cNvPr id="11" name="CuadroTexto 10">
            <a:extLst>
              <a:ext uri="{FF2B5EF4-FFF2-40B4-BE49-F238E27FC236}">
                <a16:creationId xmlns:a16="http://schemas.microsoft.com/office/drawing/2014/main" id="{881FA008-20C1-7049-D24D-353777449A1A}"/>
              </a:ext>
            </a:extLst>
          </p:cNvPr>
          <p:cNvSpPr txBox="1"/>
          <p:nvPr/>
        </p:nvSpPr>
        <p:spPr>
          <a:xfrm>
            <a:off x="5169225" y="6392089"/>
            <a:ext cx="6912768" cy="369332"/>
          </a:xfrm>
          <a:prstGeom prst="rect">
            <a:avLst/>
          </a:prstGeom>
          <a:noFill/>
        </p:spPr>
        <p:txBody>
          <a:bodyPr wrap="square" rtlCol="0">
            <a:spAutoFit/>
          </a:bodyPr>
          <a:lstStyle/>
          <a:p>
            <a:r>
              <a:rPr lang="es-ES" b="1" dirty="0"/>
              <a:t>Relación aire-combustible</a:t>
            </a:r>
            <a:r>
              <a:rPr lang="es-ES" dirty="0"/>
              <a:t>: </a:t>
            </a:r>
            <a:r>
              <a:rPr lang="es-ES" b="1" dirty="0"/>
              <a:t>14.7:1 en masa / 94% aire en volumen</a:t>
            </a:r>
            <a:endParaRPr lang="es-EC" dirty="0"/>
          </a:p>
        </p:txBody>
      </p:sp>
    </p:spTree>
    <p:extLst>
      <p:ext uri="{BB962C8B-B14F-4D97-AF65-F5344CB8AC3E}">
        <p14:creationId xmlns:p14="http://schemas.microsoft.com/office/powerpoint/2010/main" val="445900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a:extLst>
            <a:ext uri="{FF2B5EF4-FFF2-40B4-BE49-F238E27FC236}">
              <a16:creationId xmlns:a16="http://schemas.microsoft.com/office/drawing/2014/main" id="{4ECCC5EC-81CE-59A8-4FBB-1F3944B5430A}"/>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072B558F-67D1-CC75-EFAE-27E37C7E4291}"/>
              </a:ext>
            </a:extLst>
          </p:cNvPr>
          <p:cNvSpPr>
            <a:spLocks noGrp="1" noChangeArrowheads="1"/>
          </p:cNvSpPr>
          <p:nvPr>
            <p:ph type="title"/>
          </p:nvPr>
        </p:nvSpPr>
        <p:spPr>
          <a:xfrm>
            <a:off x="407368" y="333375"/>
            <a:ext cx="9814545" cy="1143000"/>
          </a:xfrm>
        </p:spPr>
        <p:txBody>
          <a:bodyPr>
            <a:normAutofit fontScale="90000"/>
          </a:bodyPr>
          <a:lstStyle/>
          <a:p>
            <a:r>
              <a:rPr lang="es-ES" altLang="en-US" sz="4000" dirty="0">
                <a:solidFill>
                  <a:schemeClr val="bg1"/>
                </a:solidFill>
              </a:rPr>
              <a:t>Motores de combustión interna / Ciclo Otto / Diesel </a:t>
            </a:r>
          </a:p>
        </p:txBody>
      </p:sp>
      <p:sp>
        <p:nvSpPr>
          <p:cNvPr id="24579" name="Rectangle 3">
            <a:extLst>
              <a:ext uri="{FF2B5EF4-FFF2-40B4-BE49-F238E27FC236}">
                <a16:creationId xmlns:a16="http://schemas.microsoft.com/office/drawing/2014/main" id="{D055C54D-1268-CEA9-AFA5-BF070EF98988}"/>
              </a:ext>
            </a:extLst>
          </p:cNvPr>
          <p:cNvSpPr>
            <a:spLocks noGrp="1" noChangeArrowheads="1"/>
          </p:cNvSpPr>
          <p:nvPr>
            <p:ph idx="1"/>
          </p:nvPr>
        </p:nvSpPr>
        <p:spPr>
          <a:xfrm>
            <a:off x="407368" y="1600200"/>
            <a:ext cx="11521279" cy="5068888"/>
          </a:xfrm>
        </p:spPr>
        <p:txBody>
          <a:bodyPr>
            <a:normAutofit/>
          </a:bodyPr>
          <a:lstStyle/>
          <a:p>
            <a:r>
              <a:rPr lang="es-EC" sz="2400" u="sng" dirty="0">
                <a:solidFill>
                  <a:prstClr val="black"/>
                </a:solidFill>
              </a:rPr>
              <a:t>Máquinas reciprocantes</a:t>
            </a:r>
          </a:p>
        </p:txBody>
      </p:sp>
      <p:sp>
        <p:nvSpPr>
          <p:cNvPr id="6" name="CuadroTexto 5">
            <a:extLst>
              <a:ext uri="{FF2B5EF4-FFF2-40B4-BE49-F238E27FC236}">
                <a16:creationId xmlns:a16="http://schemas.microsoft.com/office/drawing/2014/main" id="{771FEE6D-44B7-874B-FFE5-23DA47F975CA}"/>
              </a:ext>
            </a:extLst>
          </p:cNvPr>
          <p:cNvSpPr txBox="1"/>
          <p:nvPr/>
        </p:nvSpPr>
        <p:spPr>
          <a:xfrm>
            <a:off x="9756292" y="6423581"/>
            <a:ext cx="2316371" cy="369332"/>
          </a:xfrm>
          <a:prstGeom prst="rect">
            <a:avLst/>
          </a:prstGeom>
          <a:solidFill>
            <a:schemeClr val="bg1"/>
          </a:solidFill>
          <a:ln>
            <a:noFill/>
          </a:ln>
        </p:spPr>
        <p:txBody>
          <a:bodyPr wrap="square" rtlCol="0">
            <a:spAutoFit/>
          </a:bodyPr>
          <a:lstStyle/>
          <a:p>
            <a:endParaRPr lang="en-US" dirty="0"/>
          </a:p>
        </p:txBody>
      </p:sp>
      <p:sp>
        <p:nvSpPr>
          <p:cNvPr id="2" name="CuadroTexto 1">
            <a:extLst>
              <a:ext uri="{FF2B5EF4-FFF2-40B4-BE49-F238E27FC236}">
                <a16:creationId xmlns:a16="http://schemas.microsoft.com/office/drawing/2014/main" id="{64A0A5D1-509B-B89D-F76C-17D158BB4BD9}"/>
              </a:ext>
            </a:extLst>
          </p:cNvPr>
          <p:cNvSpPr txBox="1"/>
          <p:nvPr/>
        </p:nvSpPr>
        <p:spPr>
          <a:xfrm>
            <a:off x="5087888" y="5733256"/>
            <a:ext cx="1080120" cy="369332"/>
          </a:xfrm>
          <a:prstGeom prst="rect">
            <a:avLst/>
          </a:prstGeom>
          <a:solidFill>
            <a:schemeClr val="bg1"/>
          </a:solidFill>
          <a:ln>
            <a:noFill/>
          </a:ln>
        </p:spPr>
        <p:txBody>
          <a:bodyPr wrap="square" rtlCol="0">
            <a:spAutoFit/>
          </a:bodyPr>
          <a:lstStyle/>
          <a:p>
            <a:endParaRPr lang="es-EC" dirty="0"/>
          </a:p>
        </p:txBody>
      </p:sp>
      <p:sp>
        <p:nvSpPr>
          <p:cNvPr id="10" name="CuadroTexto 9">
            <a:extLst>
              <a:ext uri="{FF2B5EF4-FFF2-40B4-BE49-F238E27FC236}">
                <a16:creationId xmlns:a16="http://schemas.microsoft.com/office/drawing/2014/main" id="{BAD2D201-4F7E-0C12-82AB-4383BE0FCC42}"/>
              </a:ext>
            </a:extLst>
          </p:cNvPr>
          <p:cNvSpPr txBox="1"/>
          <p:nvPr/>
        </p:nvSpPr>
        <p:spPr>
          <a:xfrm>
            <a:off x="9264352" y="4509120"/>
            <a:ext cx="576064" cy="369332"/>
          </a:xfrm>
          <a:prstGeom prst="rect">
            <a:avLst/>
          </a:prstGeom>
          <a:solidFill>
            <a:schemeClr val="bg1"/>
          </a:solidFill>
          <a:ln>
            <a:noFill/>
          </a:ln>
        </p:spPr>
        <p:txBody>
          <a:bodyPr wrap="square" rtlCol="0">
            <a:spAutoFit/>
          </a:bodyPr>
          <a:lstStyle/>
          <a:p>
            <a:endParaRPr lang="es-EC" dirty="0"/>
          </a:p>
        </p:txBody>
      </p:sp>
      <p:pic>
        <p:nvPicPr>
          <p:cNvPr id="11" name="Picture 1">
            <a:extLst>
              <a:ext uri="{FF2B5EF4-FFF2-40B4-BE49-F238E27FC236}">
                <a16:creationId xmlns:a16="http://schemas.microsoft.com/office/drawing/2014/main" id="{A3E91CC1-9BFB-8E53-C6F1-42E27476BA58}"/>
              </a:ext>
            </a:extLst>
          </p:cNvPr>
          <p:cNvPicPr>
            <a:picLocks noChangeAspect="1"/>
          </p:cNvPicPr>
          <p:nvPr/>
        </p:nvPicPr>
        <p:blipFill>
          <a:blip r:embed="rId3"/>
          <a:stretch>
            <a:fillRect/>
          </a:stretch>
        </p:blipFill>
        <p:spPr>
          <a:xfrm>
            <a:off x="401688" y="2082821"/>
            <a:ext cx="3954001" cy="3843485"/>
          </a:xfrm>
          <a:prstGeom prst="rect">
            <a:avLst/>
          </a:prstGeom>
        </p:spPr>
      </p:pic>
      <p:pic>
        <p:nvPicPr>
          <p:cNvPr id="12" name="Picture 5">
            <a:extLst>
              <a:ext uri="{FF2B5EF4-FFF2-40B4-BE49-F238E27FC236}">
                <a16:creationId xmlns:a16="http://schemas.microsoft.com/office/drawing/2014/main" id="{33694AC9-9249-B9AF-4796-F334FA1EB9DF}"/>
              </a:ext>
            </a:extLst>
          </p:cNvPr>
          <p:cNvPicPr>
            <a:picLocks noChangeAspect="1"/>
          </p:cNvPicPr>
          <p:nvPr/>
        </p:nvPicPr>
        <p:blipFill>
          <a:blip r:embed="rId4"/>
          <a:stretch>
            <a:fillRect/>
          </a:stretch>
        </p:blipFill>
        <p:spPr>
          <a:xfrm>
            <a:off x="7954396" y="3035992"/>
            <a:ext cx="2619911" cy="1041651"/>
          </a:xfrm>
          <a:prstGeom prst="rect">
            <a:avLst/>
          </a:prstGeom>
        </p:spPr>
      </p:pic>
      <p:pic>
        <p:nvPicPr>
          <p:cNvPr id="13" name="Picture 10">
            <a:extLst>
              <a:ext uri="{FF2B5EF4-FFF2-40B4-BE49-F238E27FC236}">
                <a16:creationId xmlns:a16="http://schemas.microsoft.com/office/drawing/2014/main" id="{4CA2997A-AD6A-7C1C-C47C-6A34C9ED73B4}"/>
              </a:ext>
            </a:extLst>
          </p:cNvPr>
          <p:cNvPicPr>
            <a:picLocks noChangeAspect="1"/>
          </p:cNvPicPr>
          <p:nvPr/>
        </p:nvPicPr>
        <p:blipFill>
          <a:blip r:embed="rId5"/>
          <a:stretch>
            <a:fillRect/>
          </a:stretch>
        </p:blipFill>
        <p:spPr>
          <a:xfrm>
            <a:off x="6216058" y="5288517"/>
            <a:ext cx="5813539" cy="1041651"/>
          </a:xfrm>
          <a:prstGeom prst="rect">
            <a:avLst/>
          </a:prstGeom>
        </p:spPr>
      </p:pic>
      <p:pic>
        <p:nvPicPr>
          <p:cNvPr id="14" name="Picture 13">
            <a:extLst>
              <a:ext uri="{FF2B5EF4-FFF2-40B4-BE49-F238E27FC236}">
                <a16:creationId xmlns:a16="http://schemas.microsoft.com/office/drawing/2014/main" id="{E947327B-AE70-BE7A-BD70-75BDA305142B}"/>
              </a:ext>
            </a:extLst>
          </p:cNvPr>
          <p:cNvPicPr>
            <a:picLocks noChangeAspect="1"/>
          </p:cNvPicPr>
          <p:nvPr/>
        </p:nvPicPr>
        <p:blipFill>
          <a:blip r:embed="rId6"/>
          <a:stretch>
            <a:fillRect/>
          </a:stretch>
        </p:blipFill>
        <p:spPr>
          <a:xfrm>
            <a:off x="4556210" y="2251728"/>
            <a:ext cx="2619911" cy="3357703"/>
          </a:xfrm>
          <a:prstGeom prst="rect">
            <a:avLst/>
          </a:prstGeom>
        </p:spPr>
      </p:pic>
    </p:spTree>
    <p:extLst>
      <p:ext uri="{BB962C8B-B14F-4D97-AF65-F5344CB8AC3E}">
        <p14:creationId xmlns:p14="http://schemas.microsoft.com/office/powerpoint/2010/main" val="2459953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a:extLst>
            <a:ext uri="{FF2B5EF4-FFF2-40B4-BE49-F238E27FC236}">
              <a16:creationId xmlns:a16="http://schemas.microsoft.com/office/drawing/2014/main" id="{DA847901-4A00-8BBF-D136-A799F16F6E56}"/>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EB01B981-CC48-A6B7-CB3E-62060767BC0B}"/>
              </a:ext>
            </a:extLst>
          </p:cNvPr>
          <p:cNvSpPr>
            <a:spLocks noGrp="1" noChangeArrowheads="1"/>
          </p:cNvSpPr>
          <p:nvPr>
            <p:ph type="title"/>
          </p:nvPr>
        </p:nvSpPr>
        <p:spPr>
          <a:xfrm>
            <a:off x="407368" y="333375"/>
            <a:ext cx="9814545" cy="1143000"/>
          </a:xfrm>
        </p:spPr>
        <p:txBody>
          <a:bodyPr>
            <a:normAutofit/>
          </a:bodyPr>
          <a:lstStyle/>
          <a:p>
            <a:r>
              <a:rPr lang="es-ES" altLang="en-US" sz="4000" dirty="0">
                <a:solidFill>
                  <a:schemeClr val="bg1"/>
                </a:solidFill>
              </a:rPr>
              <a:t>Motores de combustión interna / Ciclo Otto </a:t>
            </a:r>
          </a:p>
        </p:txBody>
      </p:sp>
      <p:sp>
        <p:nvSpPr>
          <p:cNvPr id="24579" name="Rectangle 3">
            <a:extLst>
              <a:ext uri="{FF2B5EF4-FFF2-40B4-BE49-F238E27FC236}">
                <a16:creationId xmlns:a16="http://schemas.microsoft.com/office/drawing/2014/main" id="{28C627E1-18AE-634D-83F1-3A2CB5C2E839}"/>
              </a:ext>
            </a:extLst>
          </p:cNvPr>
          <p:cNvSpPr>
            <a:spLocks noGrp="1" noChangeArrowheads="1"/>
          </p:cNvSpPr>
          <p:nvPr>
            <p:ph idx="1"/>
          </p:nvPr>
        </p:nvSpPr>
        <p:spPr>
          <a:xfrm>
            <a:off x="407368" y="1600200"/>
            <a:ext cx="11521279" cy="5068888"/>
          </a:xfrm>
        </p:spPr>
        <p:txBody>
          <a:bodyPr>
            <a:normAutofit/>
          </a:bodyPr>
          <a:lstStyle/>
          <a:p>
            <a:r>
              <a:rPr lang="es-EC" sz="2400" u="sng" dirty="0">
                <a:solidFill>
                  <a:prstClr val="black"/>
                </a:solidFill>
              </a:rPr>
              <a:t>Ciclo otto</a:t>
            </a:r>
          </a:p>
        </p:txBody>
      </p:sp>
      <p:sp>
        <p:nvSpPr>
          <p:cNvPr id="6" name="CuadroTexto 5">
            <a:extLst>
              <a:ext uri="{FF2B5EF4-FFF2-40B4-BE49-F238E27FC236}">
                <a16:creationId xmlns:a16="http://schemas.microsoft.com/office/drawing/2014/main" id="{3D108E34-D175-8609-1951-F1C41DB4E87B}"/>
              </a:ext>
            </a:extLst>
          </p:cNvPr>
          <p:cNvSpPr txBox="1"/>
          <p:nvPr/>
        </p:nvSpPr>
        <p:spPr>
          <a:xfrm>
            <a:off x="9756292" y="6423581"/>
            <a:ext cx="2316371" cy="369332"/>
          </a:xfrm>
          <a:prstGeom prst="rect">
            <a:avLst/>
          </a:prstGeom>
          <a:solidFill>
            <a:schemeClr val="bg1"/>
          </a:solidFill>
          <a:ln>
            <a:noFill/>
          </a:ln>
        </p:spPr>
        <p:txBody>
          <a:bodyPr wrap="square" rtlCol="0">
            <a:spAutoFit/>
          </a:bodyPr>
          <a:lstStyle/>
          <a:p>
            <a:endParaRPr lang="en-US" dirty="0"/>
          </a:p>
        </p:txBody>
      </p:sp>
      <p:sp>
        <p:nvSpPr>
          <p:cNvPr id="2" name="CuadroTexto 1">
            <a:extLst>
              <a:ext uri="{FF2B5EF4-FFF2-40B4-BE49-F238E27FC236}">
                <a16:creationId xmlns:a16="http://schemas.microsoft.com/office/drawing/2014/main" id="{97E790CD-AC1A-34BE-D339-2DE203BA6374}"/>
              </a:ext>
            </a:extLst>
          </p:cNvPr>
          <p:cNvSpPr txBox="1"/>
          <p:nvPr/>
        </p:nvSpPr>
        <p:spPr>
          <a:xfrm>
            <a:off x="5087888" y="5733256"/>
            <a:ext cx="1080120" cy="369332"/>
          </a:xfrm>
          <a:prstGeom prst="rect">
            <a:avLst/>
          </a:prstGeom>
          <a:solidFill>
            <a:schemeClr val="bg1"/>
          </a:solidFill>
          <a:ln>
            <a:noFill/>
          </a:ln>
        </p:spPr>
        <p:txBody>
          <a:bodyPr wrap="square" rtlCol="0">
            <a:spAutoFit/>
          </a:bodyPr>
          <a:lstStyle/>
          <a:p>
            <a:endParaRPr lang="es-EC" dirty="0"/>
          </a:p>
        </p:txBody>
      </p:sp>
      <p:sp>
        <p:nvSpPr>
          <p:cNvPr id="10" name="CuadroTexto 9">
            <a:extLst>
              <a:ext uri="{FF2B5EF4-FFF2-40B4-BE49-F238E27FC236}">
                <a16:creationId xmlns:a16="http://schemas.microsoft.com/office/drawing/2014/main" id="{C1D65127-9E08-82E7-EC6A-2658A0B503F7}"/>
              </a:ext>
            </a:extLst>
          </p:cNvPr>
          <p:cNvSpPr txBox="1"/>
          <p:nvPr/>
        </p:nvSpPr>
        <p:spPr>
          <a:xfrm>
            <a:off x="9264352" y="4509120"/>
            <a:ext cx="576064" cy="369332"/>
          </a:xfrm>
          <a:prstGeom prst="rect">
            <a:avLst/>
          </a:prstGeom>
          <a:solidFill>
            <a:schemeClr val="bg1"/>
          </a:solidFill>
          <a:ln>
            <a:noFill/>
          </a:ln>
        </p:spPr>
        <p:txBody>
          <a:bodyPr wrap="square" rtlCol="0">
            <a:spAutoFit/>
          </a:bodyPr>
          <a:lstStyle/>
          <a:p>
            <a:endParaRPr lang="es-EC" dirty="0"/>
          </a:p>
        </p:txBody>
      </p:sp>
      <p:pic>
        <p:nvPicPr>
          <p:cNvPr id="3" name="Picture 2">
            <a:extLst>
              <a:ext uri="{FF2B5EF4-FFF2-40B4-BE49-F238E27FC236}">
                <a16:creationId xmlns:a16="http://schemas.microsoft.com/office/drawing/2014/main" id="{B34745AA-50F5-5E0C-B567-603610C1B402}"/>
              </a:ext>
            </a:extLst>
          </p:cNvPr>
          <p:cNvPicPr>
            <a:picLocks noChangeAspect="1"/>
          </p:cNvPicPr>
          <p:nvPr/>
        </p:nvPicPr>
        <p:blipFill>
          <a:blip r:embed="rId3"/>
          <a:stretch>
            <a:fillRect/>
          </a:stretch>
        </p:blipFill>
        <p:spPr>
          <a:xfrm>
            <a:off x="2335992" y="1504950"/>
            <a:ext cx="9114149" cy="5353050"/>
          </a:xfrm>
          <a:prstGeom prst="rect">
            <a:avLst/>
          </a:prstGeom>
        </p:spPr>
      </p:pic>
    </p:spTree>
    <p:extLst>
      <p:ext uri="{BB962C8B-B14F-4D97-AF65-F5344CB8AC3E}">
        <p14:creationId xmlns:p14="http://schemas.microsoft.com/office/powerpoint/2010/main" val="14980029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a:extLst>
            <a:ext uri="{FF2B5EF4-FFF2-40B4-BE49-F238E27FC236}">
              <a16:creationId xmlns:a16="http://schemas.microsoft.com/office/drawing/2014/main" id="{D35AD7D5-1F62-5711-1BE5-D8258BFB83F7}"/>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286EFDB1-3821-8982-CDA8-E9C2CA83C8D7}"/>
              </a:ext>
            </a:extLst>
          </p:cNvPr>
          <p:cNvSpPr>
            <a:spLocks noGrp="1" noChangeArrowheads="1"/>
          </p:cNvSpPr>
          <p:nvPr>
            <p:ph type="title"/>
          </p:nvPr>
        </p:nvSpPr>
        <p:spPr>
          <a:xfrm>
            <a:off x="407368" y="333375"/>
            <a:ext cx="9814545" cy="1143000"/>
          </a:xfrm>
        </p:spPr>
        <p:txBody>
          <a:bodyPr>
            <a:normAutofit/>
          </a:bodyPr>
          <a:lstStyle/>
          <a:p>
            <a:r>
              <a:rPr lang="es-ES" altLang="en-US" sz="4000" dirty="0">
                <a:solidFill>
                  <a:schemeClr val="bg1"/>
                </a:solidFill>
              </a:rPr>
              <a:t>Motores de combustión interna / Ciclo Otto </a:t>
            </a:r>
          </a:p>
        </p:txBody>
      </p:sp>
      <p:sp>
        <p:nvSpPr>
          <p:cNvPr id="24579" name="Rectangle 3">
            <a:extLst>
              <a:ext uri="{FF2B5EF4-FFF2-40B4-BE49-F238E27FC236}">
                <a16:creationId xmlns:a16="http://schemas.microsoft.com/office/drawing/2014/main" id="{660B04E3-314B-EB04-C756-354771BD7CF2}"/>
              </a:ext>
            </a:extLst>
          </p:cNvPr>
          <p:cNvSpPr>
            <a:spLocks noGrp="1" noChangeArrowheads="1"/>
          </p:cNvSpPr>
          <p:nvPr>
            <p:ph idx="1"/>
          </p:nvPr>
        </p:nvSpPr>
        <p:spPr>
          <a:xfrm>
            <a:off x="407368" y="1600200"/>
            <a:ext cx="11521279" cy="5068888"/>
          </a:xfrm>
        </p:spPr>
        <p:txBody>
          <a:bodyPr>
            <a:normAutofit/>
          </a:bodyPr>
          <a:lstStyle/>
          <a:p>
            <a:r>
              <a:rPr lang="es-EC" sz="2400" u="sng" dirty="0">
                <a:solidFill>
                  <a:prstClr val="black"/>
                </a:solidFill>
              </a:rPr>
              <a:t>Ciclo otto</a:t>
            </a:r>
          </a:p>
        </p:txBody>
      </p:sp>
      <p:sp>
        <p:nvSpPr>
          <p:cNvPr id="6" name="CuadroTexto 5">
            <a:extLst>
              <a:ext uri="{FF2B5EF4-FFF2-40B4-BE49-F238E27FC236}">
                <a16:creationId xmlns:a16="http://schemas.microsoft.com/office/drawing/2014/main" id="{CE5C8C98-F905-2E36-8256-B29AC1151BE2}"/>
              </a:ext>
            </a:extLst>
          </p:cNvPr>
          <p:cNvSpPr txBox="1"/>
          <p:nvPr/>
        </p:nvSpPr>
        <p:spPr>
          <a:xfrm>
            <a:off x="9756292" y="6423581"/>
            <a:ext cx="2316371" cy="369332"/>
          </a:xfrm>
          <a:prstGeom prst="rect">
            <a:avLst/>
          </a:prstGeom>
          <a:solidFill>
            <a:schemeClr val="bg1"/>
          </a:solidFill>
          <a:ln>
            <a:noFill/>
          </a:ln>
        </p:spPr>
        <p:txBody>
          <a:bodyPr wrap="square" rtlCol="0">
            <a:spAutoFit/>
          </a:bodyPr>
          <a:lstStyle/>
          <a:p>
            <a:endParaRPr lang="en-US" dirty="0"/>
          </a:p>
        </p:txBody>
      </p:sp>
      <p:sp>
        <p:nvSpPr>
          <p:cNvPr id="2" name="CuadroTexto 1">
            <a:extLst>
              <a:ext uri="{FF2B5EF4-FFF2-40B4-BE49-F238E27FC236}">
                <a16:creationId xmlns:a16="http://schemas.microsoft.com/office/drawing/2014/main" id="{2335FCC2-429B-B24F-B764-1871DD813DEE}"/>
              </a:ext>
            </a:extLst>
          </p:cNvPr>
          <p:cNvSpPr txBox="1"/>
          <p:nvPr/>
        </p:nvSpPr>
        <p:spPr>
          <a:xfrm>
            <a:off x="5087888" y="5733256"/>
            <a:ext cx="1080120" cy="369332"/>
          </a:xfrm>
          <a:prstGeom prst="rect">
            <a:avLst/>
          </a:prstGeom>
          <a:solidFill>
            <a:schemeClr val="bg1"/>
          </a:solidFill>
          <a:ln>
            <a:noFill/>
          </a:ln>
        </p:spPr>
        <p:txBody>
          <a:bodyPr wrap="square" rtlCol="0">
            <a:spAutoFit/>
          </a:bodyPr>
          <a:lstStyle/>
          <a:p>
            <a:endParaRPr lang="es-EC" dirty="0"/>
          </a:p>
        </p:txBody>
      </p:sp>
      <p:sp>
        <p:nvSpPr>
          <p:cNvPr id="10" name="CuadroTexto 9">
            <a:extLst>
              <a:ext uri="{FF2B5EF4-FFF2-40B4-BE49-F238E27FC236}">
                <a16:creationId xmlns:a16="http://schemas.microsoft.com/office/drawing/2014/main" id="{B802118A-FDE4-CC40-7DE0-114204FD746F}"/>
              </a:ext>
            </a:extLst>
          </p:cNvPr>
          <p:cNvSpPr txBox="1"/>
          <p:nvPr/>
        </p:nvSpPr>
        <p:spPr>
          <a:xfrm>
            <a:off x="9264352" y="4509120"/>
            <a:ext cx="576064" cy="369332"/>
          </a:xfrm>
          <a:prstGeom prst="rect">
            <a:avLst/>
          </a:prstGeom>
          <a:solidFill>
            <a:schemeClr val="bg1"/>
          </a:solidFill>
          <a:ln>
            <a:noFill/>
          </a:ln>
        </p:spPr>
        <p:txBody>
          <a:bodyPr wrap="square" rtlCol="0">
            <a:spAutoFit/>
          </a:bodyPr>
          <a:lstStyle/>
          <a:p>
            <a:endParaRPr lang="es-EC" dirty="0"/>
          </a:p>
        </p:txBody>
      </p:sp>
      <p:pic>
        <p:nvPicPr>
          <p:cNvPr id="4" name="Picture 2">
            <a:extLst>
              <a:ext uri="{FF2B5EF4-FFF2-40B4-BE49-F238E27FC236}">
                <a16:creationId xmlns:a16="http://schemas.microsoft.com/office/drawing/2014/main" id="{14E6324C-6069-3249-1DFA-366E3562A06B}"/>
              </a:ext>
            </a:extLst>
          </p:cNvPr>
          <p:cNvPicPr>
            <a:picLocks noChangeAspect="1"/>
          </p:cNvPicPr>
          <p:nvPr/>
        </p:nvPicPr>
        <p:blipFill rotWithShape="1">
          <a:blip r:embed="rId3"/>
          <a:srcRect t="55326" r="66080"/>
          <a:stretch/>
        </p:blipFill>
        <p:spPr>
          <a:xfrm>
            <a:off x="1982733" y="1609530"/>
            <a:ext cx="3093011" cy="2392587"/>
          </a:xfrm>
          <a:prstGeom prst="rect">
            <a:avLst/>
          </a:prstGeom>
        </p:spPr>
      </p:pic>
      <p:pic>
        <p:nvPicPr>
          <p:cNvPr id="5" name="Picture 1">
            <a:extLst>
              <a:ext uri="{FF2B5EF4-FFF2-40B4-BE49-F238E27FC236}">
                <a16:creationId xmlns:a16="http://schemas.microsoft.com/office/drawing/2014/main" id="{86015DDA-5B39-7AEB-CD72-8B738AA166FB}"/>
              </a:ext>
            </a:extLst>
          </p:cNvPr>
          <p:cNvPicPr>
            <a:picLocks noChangeAspect="1"/>
          </p:cNvPicPr>
          <p:nvPr/>
        </p:nvPicPr>
        <p:blipFill>
          <a:blip r:embed="rId4"/>
          <a:stretch>
            <a:fillRect/>
          </a:stretch>
        </p:blipFill>
        <p:spPr>
          <a:xfrm>
            <a:off x="2130064" y="4075161"/>
            <a:ext cx="2813808" cy="2655840"/>
          </a:xfrm>
          <a:prstGeom prst="rect">
            <a:avLst/>
          </a:prstGeom>
        </p:spPr>
      </p:pic>
      <p:pic>
        <p:nvPicPr>
          <p:cNvPr id="9" name="Imagen 8">
            <a:extLst>
              <a:ext uri="{FF2B5EF4-FFF2-40B4-BE49-F238E27FC236}">
                <a16:creationId xmlns:a16="http://schemas.microsoft.com/office/drawing/2014/main" id="{7A677EE3-0BCA-C948-0A4D-3B07D0EDA152}"/>
              </a:ext>
            </a:extLst>
          </p:cNvPr>
          <p:cNvPicPr>
            <a:picLocks noChangeAspect="1"/>
          </p:cNvPicPr>
          <p:nvPr/>
        </p:nvPicPr>
        <p:blipFill>
          <a:blip r:embed="rId5"/>
          <a:stretch>
            <a:fillRect/>
          </a:stretch>
        </p:blipFill>
        <p:spPr>
          <a:xfrm>
            <a:off x="5314640" y="3126435"/>
            <a:ext cx="6696743" cy="868215"/>
          </a:xfrm>
          <a:prstGeom prst="rect">
            <a:avLst/>
          </a:prstGeom>
        </p:spPr>
      </p:pic>
      <p:pic>
        <p:nvPicPr>
          <p:cNvPr id="12" name="Imagen 11">
            <a:extLst>
              <a:ext uri="{FF2B5EF4-FFF2-40B4-BE49-F238E27FC236}">
                <a16:creationId xmlns:a16="http://schemas.microsoft.com/office/drawing/2014/main" id="{A97692C2-78EE-0D05-BBB3-0E31F2497C83}"/>
              </a:ext>
            </a:extLst>
          </p:cNvPr>
          <p:cNvPicPr>
            <a:picLocks noChangeAspect="1"/>
          </p:cNvPicPr>
          <p:nvPr/>
        </p:nvPicPr>
        <p:blipFill>
          <a:blip r:embed="rId6"/>
          <a:stretch>
            <a:fillRect/>
          </a:stretch>
        </p:blipFill>
        <p:spPr>
          <a:xfrm>
            <a:off x="6439239" y="1477514"/>
            <a:ext cx="4125913" cy="1337365"/>
          </a:xfrm>
          <a:prstGeom prst="rect">
            <a:avLst/>
          </a:prstGeom>
        </p:spPr>
      </p:pic>
      <p:pic>
        <p:nvPicPr>
          <p:cNvPr id="14" name="Imagen 13">
            <a:extLst>
              <a:ext uri="{FF2B5EF4-FFF2-40B4-BE49-F238E27FC236}">
                <a16:creationId xmlns:a16="http://schemas.microsoft.com/office/drawing/2014/main" id="{9EC50518-B777-F0D3-258B-0766F8CA6AC1}"/>
              </a:ext>
            </a:extLst>
          </p:cNvPr>
          <p:cNvPicPr>
            <a:picLocks noChangeAspect="1"/>
          </p:cNvPicPr>
          <p:nvPr/>
        </p:nvPicPr>
        <p:blipFill>
          <a:blip r:embed="rId7"/>
          <a:stretch>
            <a:fillRect/>
          </a:stretch>
        </p:blipFill>
        <p:spPr>
          <a:xfrm>
            <a:off x="6606683" y="4267308"/>
            <a:ext cx="4112656" cy="852955"/>
          </a:xfrm>
          <a:prstGeom prst="rect">
            <a:avLst/>
          </a:prstGeom>
        </p:spPr>
      </p:pic>
      <p:pic>
        <p:nvPicPr>
          <p:cNvPr id="18" name="Imagen 17">
            <a:extLst>
              <a:ext uri="{FF2B5EF4-FFF2-40B4-BE49-F238E27FC236}">
                <a16:creationId xmlns:a16="http://schemas.microsoft.com/office/drawing/2014/main" id="{05AD7984-15A0-A9C3-EBF4-B8967113A7FA}"/>
              </a:ext>
            </a:extLst>
          </p:cNvPr>
          <p:cNvPicPr>
            <a:picLocks noChangeAspect="1"/>
          </p:cNvPicPr>
          <p:nvPr/>
        </p:nvPicPr>
        <p:blipFill>
          <a:blip r:embed="rId8"/>
          <a:stretch>
            <a:fillRect/>
          </a:stretch>
        </p:blipFill>
        <p:spPr>
          <a:xfrm>
            <a:off x="5306396" y="5443576"/>
            <a:ext cx="2911638" cy="902198"/>
          </a:xfrm>
          <a:prstGeom prst="rect">
            <a:avLst/>
          </a:prstGeom>
        </p:spPr>
      </p:pic>
      <p:pic>
        <p:nvPicPr>
          <p:cNvPr id="20" name="Imagen 19">
            <a:extLst>
              <a:ext uri="{FF2B5EF4-FFF2-40B4-BE49-F238E27FC236}">
                <a16:creationId xmlns:a16="http://schemas.microsoft.com/office/drawing/2014/main" id="{A07703C5-A390-10BA-8D99-9926D3A2A30C}"/>
              </a:ext>
            </a:extLst>
          </p:cNvPr>
          <p:cNvPicPr>
            <a:picLocks noChangeAspect="1"/>
          </p:cNvPicPr>
          <p:nvPr/>
        </p:nvPicPr>
        <p:blipFill>
          <a:blip r:embed="rId9"/>
          <a:stretch>
            <a:fillRect/>
          </a:stretch>
        </p:blipFill>
        <p:spPr>
          <a:xfrm>
            <a:off x="9048328" y="5479844"/>
            <a:ext cx="2756838" cy="865930"/>
          </a:xfrm>
          <a:prstGeom prst="rect">
            <a:avLst/>
          </a:prstGeom>
        </p:spPr>
      </p:pic>
    </p:spTree>
    <p:extLst>
      <p:ext uri="{BB962C8B-B14F-4D97-AF65-F5344CB8AC3E}">
        <p14:creationId xmlns:p14="http://schemas.microsoft.com/office/powerpoint/2010/main" val="20306382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a:extLst>
            <a:ext uri="{FF2B5EF4-FFF2-40B4-BE49-F238E27FC236}">
              <a16:creationId xmlns:a16="http://schemas.microsoft.com/office/drawing/2014/main" id="{2A313C30-E1F6-C0C5-1BC0-CA4D2C316731}"/>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AC04F8DD-20AC-0B70-5ADA-DA6969F54612}"/>
              </a:ext>
            </a:extLst>
          </p:cNvPr>
          <p:cNvSpPr>
            <a:spLocks noGrp="1" noChangeArrowheads="1"/>
          </p:cNvSpPr>
          <p:nvPr>
            <p:ph type="title"/>
          </p:nvPr>
        </p:nvSpPr>
        <p:spPr>
          <a:xfrm>
            <a:off x="407368" y="333375"/>
            <a:ext cx="9814545" cy="1143000"/>
          </a:xfrm>
        </p:spPr>
        <p:txBody>
          <a:bodyPr>
            <a:normAutofit/>
          </a:bodyPr>
          <a:lstStyle/>
          <a:p>
            <a:r>
              <a:rPr lang="es-ES" altLang="en-US" sz="4000" dirty="0">
                <a:solidFill>
                  <a:schemeClr val="bg1"/>
                </a:solidFill>
              </a:rPr>
              <a:t>Motores de combustión interna / Ciclo Otto </a:t>
            </a:r>
          </a:p>
        </p:txBody>
      </p:sp>
      <p:sp>
        <p:nvSpPr>
          <p:cNvPr id="24579" name="Rectangle 3">
            <a:extLst>
              <a:ext uri="{FF2B5EF4-FFF2-40B4-BE49-F238E27FC236}">
                <a16:creationId xmlns:a16="http://schemas.microsoft.com/office/drawing/2014/main" id="{4682400E-3E18-16C4-F841-BBDA9E146243}"/>
              </a:ext>
            </a:extLst>
          </p:cNvPr>
          <p:cNvSpPr>
            <a:spLocks noGrp="1" noChangeArrowheads="1"/>
          </p:cNvSpPr>
          <p:nvPr>
            <p:ph idx="1"/>
          </p:nvPr>
        </p:nvSpPr>
        <p:spPr>
          <a:xfrm>
            <a:off x="407368" y="1600200"/>
            <a:ext cx="11521279" cy="5068888"/>
          </a:xfrm>
        </p:spPr>
        <p:txBody>
          <a:bodyPr>
            <a:normAutofit/>
          </a:bodyPr>
          <a:lstStyle/>
          <a:p>
            <a:r>
              <a:rPr lang="es-EC" sz="2400" u="sng" dirty="0">
                <a:solidFill>
                  <a:prstClr val="black"/>
                </a:solidFill>
              </a:rPr>
              <a:t>Ciclo otto</a:t>
            </a:r>
          </a:p>
        </p:txBody>
      </p:sp>
      <p:sp>
        <p:nvSpPr>
          <p:cNvPr id="6" name="CuadroTexto 5">
            <a:extLst>
              <a:ext uri="{FF2B5EF4-FFF2-40B4-BE49-F238E27FC236}">
                <a16:creationId xmlns:a16="http://schemas.microsoft.com/office/drawing/2014/main" id="{9C4A2040-BD70-99C4-81AA-6D31493F4F8A}"/>
              </a:ext>
            </a:extLst>
          </p:cNvPr>
          <p:cNvSpPr txBox="1"/>
          <p:nvPr/>
        </p:nvSpPr>
        <p:spPr>
          <a:xfrm>
            <a:off x="9756292" y="6423581"/>
            <a:ext cx="2316371" cy="369332"/>
          </a:xfrm>
          <a:prstGeom prst="rect">
            <a:avLst/>
          </a:prstGeom>
          <a:solidFill>
            <a:schemeClr val="bg1"/>
          </a:solidFill>
          <a:ln>
            <a:noFill/>
          </a:ln>
        </p:spPr>
        <p:txBody>
          <a:bodyPr wrap="square" rtlCol="0">
            <a:spAutoFit/>
          </a:bodyPr>
          <a:lstStyle/>
          <a:p>
            <a:endParaRPr lang="en-US" dirty="0"/>
          </a:p>
        </p:txBody>
      </p:sp>
      <p:sp>
        <p:nvSpPr>
          <p:cNvPr id="2" name="CuadroTexto 1">
            <a:extLst>
              <a:ext uri="{FF2B5EF4-FFF2-40B4-BE49-F238E27FC236}">
                <a16:creationId xmlns:a16="http://schemas.microsoft.com/office/drawing/2014/main" id="{EE549F7E-09D7-EB4F-2B59-489C58402CD9}"/>
              </a:ext>
            </a:extLst>
          </p:cNvPr>
          <p:cNvSpPr txBox="1"/>
          <p:nvPr/>
        </p:nvSpPr>
        <p:spPr>
          <a:xfrm>
            <a:off x="5087888" y="5733256"/>
            <a:ext cx="1080120" cy="369332"/>
          </a:xfrm>
          <a:prstGeom prst="rect">
            <a:avLst/>
          </a:prstGeom>
          <a:solidFill>
            <a:schemeClr val="bg1"/>
          </a:solidFill>
          <a:ln>
            <a:noFill/>
          </a:ln>
        </p:spPr>
        <p:txBody>
          <a:bodyPr wrap="square" rtlCol="0">
            <a:spAutoFit/>
          </a:bodyPr>
          <a:lstStyle/>
          <a:p>
            <a:endParaRPr lang="es-EC" dirty="0"/>
          </a:p>
        </p:txBody>
      </p:sp>
      <p:sp>
        <p:nvSpPr>
          <p:cNvPr id="10" name="CuadroTexto 9">
            <a:extLst>
              <a:ext uri="{FF2B5EF4-FFF2-40B4-BE49-F238E27FC236}">
                <a16:creationId xmlns:a16="http://schemas.microsoft.com/office/drawing/2014/main" id="{586E0A29-A778-7120-ACCA-1D40078C43EB}"/>
              </a:ext>
            </a:extLst>
          </p:cNvPr>
          <p:cNvSpPr txBox="1"/>
          <p:nvPr/>
        </p:nvSpPr>
        <p:spPr>
          <a:xfrm>
            <a:off x="9264352" y="4509120"/>
            <a:ext cx="576064" cy="369332"/>
          </a:xfrm>
          <a:prstGeom prst="rect">
            <a:avLst/>
          </a:prstGeom>
          <a:solidFill>
            <a:schemeClr val="bg1"/>
          </a:solidFill>
          <a:ln>
            <a:noFill/>
          </a:ln>
        </p:spPr>
        <p:txBody>
          <a:bodyPr wrap="square" rtlCol="0">
            <a:spAutoFit/>
          </a:bodyPr>
          <a:lstStyle/>
          <a:p>
            <a:endParaRPr lang="es-EC" dirty="0"/>
          </a:p>
        </p:txBody>
      </p:sp>
      <p:pic>
        <p:nvPicPr>
          <p:cNvPr id="7" name="Imagen 6">
            <a:extLst>
              <a:ext uri="{FF2B5EF4-FFF2-40B4-BE49-F238E27FC236}">
                <a16:creationId xmlns:a16="http://schemas.microsoft.com/office/drawing/2014/main" id="{ACD6CDE7-9904-2743-EB81-3566E4417CE9}"/>
              </a:ext>
            </a:extLst>
          </p:cNvPr>
          <p:cNvPicPr>
            <a:picLocks noChangeAspect="1"/>
          </p:cNvPicPr>
          <p:nvPr/>
        </p:nvPicPr>
        <p:blipFill>
          <a:blip r:embed="rId3"/>
          <a:stretch>
            <a:fillRect/>
          </a:stretch>
        </p:blipFill>
        <p:spPr>
          <a:xfrm>
            <a:off x="632242" y="2159650"/>
            <a:ext cx="4455646" cy="4448597"/>
          </a:xfrm>
          <a:prstGeom prst="rect">
            <a:avLst/>
          </a:prstGeom>
        </p:spPr>
      </p:pic>
      <p:pic>
        <p:nvPicPr>
          <p:cNvPr id="11" name="Imagen 10">
            <a:extLst>
              <a:ext uri="{FF2B5EF4-FFF2-40B4-BE49-F238E27FC236}">
                <a16:creationId xmlns:a16="http://schemas.microsoft.com/office/drawing/2014/main" id="{C81764EE-FEDD-54B1-B356-693AC2879B5E}"/>
              </a:ext>
            </a:extLst>
          </p:cNvPr>
          <p:cNvPicPr>
            <a:picLocks noChangeAspect="1"/>
          </p:cNvPicPr>
          <p:nvPr/>
        </p:nvPicPr>
        <p:blipFill>
          <a:blip r:embed="rId4"/>
          <a:stretch>
            <a:fillRect/>
          </a:stretch>
        </p:blipFill>
        <p:spPr>
          <a:xfrm>
            <a:off x="6007973" y="2576071"/>
            <a:ext cx="4615681" cy="4032176"/>
          </a:xfrm>
          <a:prstGeom prst="rect">
            <a:avLst/>
          </a:prstGeom>
        </p:spPr>
      </p:pic>
    </p:spTree>
    <p:extLst>
      <p:ext uri="{BB962C8B-B14F-4D97-AF65-F5344CB8AC3E}">
        <p14:creationId xmlns:p14="http://schemas.microsoft.com/office/powerpoint/2010/main" val="3399935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a:extLst>
            <a:ext uri="{FF2B5EF4-FFF2-40B4-BE49-F238E27FC236}">
              <a16:creationId xmlns:a16="http://schemas.microsoft.com/office/drawing/2014/main" id="{E0BFE8C5-B7CF-3795-0B46-054B21EF7F6C}"/>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9F76CA14-CD61-E833-2692-AEBF6BDA1518}"/>
              </a:ext>
            </a:extLst>
          </p:cNvPr>
          <p:cNvSpPr>
            <a:spLocks noGrp="1" noChangeArrowheads="1"/>
          </p:cNvSpPr>
          <p:nvPr>
            <p:ph type="title"/>
          </p:nvPr>
        </p:nvSpPr>
        <p:spPr>
          <a:xfrm>
            <a:off x="407368" y="333375"/>
            <a:ext cx="9814545" cy="1143000"/>
          </a:xfrm>
        </p:spPr>
        <p:txBody>
          <a:bodyPr>
            <a:normAutofit fontScale="90000"/>
          </a:bodyPr>
          <a:lstStyle/>
          <a:p>
            <a:r>
              <a:rPr lang="es-ES" altLang="en-US" sz="4000" dirty="0">
                <a:solidFill>
                  <a:schemeClr val="bg1"/>
                </a:solidFill>
              </a:rPr>
              <a:t>Motores de combustión interna / Ciclo Otto / Diesel </a:t>
            </a:r>
          </a:p>
        </p:txBody>
      </p:sp>
      <p:sp>
        <p:nvSpPr>
          <p:cNvPr id="24579" name="Rectangle 3">
            <a:extLst>
              <a:ext uri="{FF2B5EF4-FFF2-40B4-BE49-F238E27FC236}">
                <a16:creationId xmlns:a16="http://schemas.microsoft.com/office/drawing/2014/main" id="{5BA47798-DAB5-C252-81B4-A7DAD61261FD}"/>
              </a:ext>
            </a:extLst>
          </p:cNvPr>
          <p:cNvSpPr>
            <a:spLocks noGrp="1" noChangeArrowheads="1"/>
          </p:cNvSpPr>
          <p:nvPr>
            <p:ph idx="1"/>
          </p:nvPr>
        </p:nvSpPr>
        <p:spPr>
          <a:xfrm>
            <a:off x="407368" y="1600200"/>
            <a:ext cx="11521279" cy="5068888"/>
          </a:xfrm>
        </p:spPr>
        <p:txBody>
          <a:bodyPr>
            <a:normAutofit/>
          </a:bodyPr>
          <a:lstStyle/>
          <a:p>
            <a:r>
              <a:rPr lang="es-EC" sz="2400" u="sng" dirty="0">
                <a:solidFill>
                  <a:prstClr val="black"/>
                </a:solidFill>
              </a:rPr>
              <a:t>Ciclo Diesel</a:t>
            </a:r>
          </a:p>
          <a:p>
            <a:endParaRPr lang="es-EC" sz="2400" u="sng" dirty="0">
              <a:solidFill>
                <a:prstClr val="black"/>
              </a:solidFill>
            </a:endParaRPr>
          </a:p>
          <a:p>
            <a:endParaRPr lang="es-EC" sz="2400" u="sng" dirty="0">
              <a:solidFill>
                <a:prstClr val="black"/>
              </a:solidFill>
            </a:endParaRPr>
          </a:p>
          <a:p>
            <a:endParaRPr lang="es-EC" sz="2400" u="sng" dirty="0">
              <a:solidFill>
                <a:prstClr val="black"/>
              </a:solidFill>
            </a:endParaRPr>
          </a:p>
          <a:p>
            <a:pPr marL="0" indent="0">
              <a:buNone/>
            </a:pPr>
            <a:endParaRPr lang="es-EC" sz="2400" u="sng" dirty="0">
              <a:solidFill>
                <a:prstClr val="black"/>
              </a:solidFill>
            </a:endParaRPr>
          </a:p>
          <a:p>
            <a:pPr marL="0" indent="0">
              <a:buNone/>
            </a:pPr>
            <a:r>
              <a:rPr lang="es-EC" sz="2400" dirty="0">
                <a:solidFill>
                  <a:prstClr val="black"/>
                </a:solidFill>
              </a:rPr>
              <a:t>                                                                  Relación de corte de admisión:</a:t>
            </a:r>
          </a:p>
        </p:txBody>
      </p:sp>
      <p:sp>
        <p:nvSpPr>
          <p:cNvPr id="6" name="CuadroTexto 5">
            <a:extLst>
              <a:ext uri="{FF2B5EF4-FFF2-40B4-BE49-F238E27FC236}">
                <a16:creationId xmlns:a16="http://schemas.microsoft.com/office/drawing/2014/main" id="{97021E8E-00A6-E0D2-9DFF-8499F7361186}"/>
              </a:ext>
            </a:extLst>
          </p:cNvPr>
          <p:cNvSpPr txBox="1"/>
          <p:nvPr/>
        </p:nvSpPr>
        <p:spPr>
          <a:xfrm>
            <a:off x="9756292" y="6423581"/>
            <a:ext cx="2316371" cy="369332"/>
          </a:xfrm>
          <a:prstGeom prst="rect">
            <a:avLst/>
          </a:prstGeom>
          <a:solidFill>
            <a:schemeClr val="bg1"/>
          </a:solidFill>
          <a:ln>
            <a:noFill/>
          </a:ln>
        </p:spPr>
        <p:txBody>
          <a:bodyPr wrap="square" rtlCol="0">
            <a:spAutoFit/>
          </a:bodyPr>
          <a:lstStyle/>
          <a:p>
            <a:endParaRPr lang="en-US" dirty="0"/>
          </a:p>
        </p:txBody>
      </p:sp>
      <p:sp>
        <p:nvSpPr>
          <p:cNvPr id="2" name="CuadroTexto 1">
            <a:extLst>
              <a:ext uri="{FF2B5EF4-FFF2-40B4-BE49-F238E27FC236}">
                <a16:creationId xmlns:a16="http://schemas.microsoft.com/office/drawing/2014/main" id="{6EB55FCA-F635-4EA7-9E58-0DF524B66855}"/>
              </a:ext>
            </a:extLst>
          </p:cNvPr>
          <p:cNvSpPr txBox="1"/>
          <p:nvPr/>
        </p:nvSpPr>
        <p:spPr>
          <a:xfrm>
            <a:off x="5087888" y="5733256"/>
            <a:ext cx="1080120" cy="369332"/>
          </a:xfrm>
          <a:prstGeom prst="rect">
            <a:avLst/>
          </a:prstGeom>
          <a:solidFill>
            <a:schemeClr val="bg1"/>
          </a:solidFill>
          <a:ln>
            <a:noFill/>
          </a:ln>
        </p:spPr>
        <p:txBody>
          <a:bodyPr wrap="square" rtlCol="0">
            <a:spAutoFit/>
          </a:bodyPr>
          <a:lstStyle/>
          <a:p>
            <a:endParaRPr lang="es-EC" dirty="0"/>
          </a:p>
        </p:txBody>
      </p:sp>
      <p:sp>
        <p:nvSpPr>
          <p:cNvPr id="10" name="CuadroTexto 9">
            <a:extLst>
              <a:ext uri="{FF2B5EF4-FFF2-40B4-BE49-F238E27FC236}">
                <a16:creationId xmlns:a16="http://schemas.microsoft.com/office/drawing/2014/main" id="{2DE1CEEE-A46D-AE52-C75B-74242314B528}"/>
              </a:ext>
            </a:extLst>
          </p:cNvPr>
          <p:cNvSpPr txBox="1"/>
          <p:nvPr/>
        </p:nvSpPr>
        <p:spPr>
          <a:xfrm>
            <a:off x="9264352" y="4509120"/>
            <a:ext cx="576064" cy="369332"/>
          </a:xfrm>
          <a:prstGeom prst="rect">
            <a:avLst/>
          </a:prstGeom>
          <a:solidFill>
            <a:schemeClr val="bg1"/>
          </a:solidFill>
          <a:ln>
            <a:noFill/>
          </a:ln>
        </p:spPr>
        <p:txBody>
          <a:bodyPr wrap="square" rtlCol="0">
            <a:spAutoFit/>
          </a:bodyPr>
          <a:lstStyle/>
          <a:p>
            <a:endParaRPr lang="es-EC" dirty="0"/>
          </a:p>
        </p:txBody>
      </p:sp>
      <p:pic>
        <p:nvPicPr>
          <p:cNvPr id="3" name="Picture 10">
            <a:extLst>
              <a:ext uri="{FF2B5EF4-FFF2-40B4-BE49-F238E27FC236}">
                <a16:creationId xmlns:a16="http://schemas.microsoft.com/office/drawing/2014/main" id="{B484BB9A-7408-DBF9-3D58-D4F1DBBE45E0}"/>
              </a:ext>
            </a:extLst>
          </p:cNvPr>
          <p:cNvPicPr>
            <a:picLocks noChangeAspect="1"/>
          </p:cNvPicPr>
          <p:nvPr/>
        </p:nvPicPr>
        <p:blipFill>
          <a:blip r:embed="rId3"/>
          <a:stretch>
            <a:fillRect/>
          </a:stretch>
        </p:blipFill>
        <p:spPr>
          <a:xfrm>
            <a:off x="2150053" y="1538668"/>
            <a:ext cx="2685807" cy="5227892"/>
          </a:xfrm>
          <a:prstGeom prst="rect">
            <a:avLst/>
          </a:prstGeom>
        </p:spPr>
      </p:pic>
      <p:pic>
        <p:nvPicPr>
          <p:cNvPr id="5" name="Imagen 4">
            <a:extLst>
              <a:ext uri="{FF2B5EF4-FFF2-40B4-BE49-F238E27FC236}">
                <a16:creationId xmlns:a16="http://schemas.microsoft.com/office/drawing/2014/main" id="{75946D26-FE3E-79BF-0DA5-3EA1676242C9}"/>
              </a:ext>
            </a:extLst>
          </p:cNvPr>
          <p:cNvPicPr>
            <a:picLocks noChangeAspect="1"/>
          </p:cNvPicPr>
          <p:nvPr/>
        </p:nvPicPr>
        <p:blipFill>
          <a:blip r:embed="rId4"/>
          <a:stretch>
            <a:fillRect/>
          </a:stretch>
        </p:blipFill>
        <p:spPr>
          <a:xfrm>
            <a:off x="6589411" y="1600200"/>
            <a:ext cx="4000847" cy="830652"/>
          </a:xfrm>
          <a:prstGeom prst="rect">
            <a:avLst/>
          </a:prstGeom>
        </p:spPr>
      </p:pic>
      <p:pic>
        <p:nvPicPr>
          <p:cNvPr id="8" name="Imagen 7">
            <a:extLst>
              <a:ext uri="{FF2B5EF4-FFF2-40B4-BE49-F238E27FC236}">
                <a16:creationId xmlns:a16="http://schemas.microsoft.com/office/drawing/2014/main" id="{9AA45A8B-5322-ED16-BEB9-0A45B3D47046}"/>
              </a:ext>
            </a:extLst>
          </p:cNvPr>
          <p:cNvPicPr>
            <a:picLocks noChangeAspect="1"/>
          </p:cNvPicPr>
          <p:nvPr/>
        </p:nvPicPr>
        <p:blipFill>
          <a:blip r:embed="rId5"/>
          <a:stretch>
            <a:fillRect/>
          </a:stretch>
        </p:blipFill>
        <p:spPr>
          <a:xfrm>
            <a:off x="6567823" y="2535588"/>
            <a:ext cx="3543607" cy="365792"/>
          </a:xfrm>
          <a:prstGeom prst="rect">
            <a:avLst/>
          </a:prstGeom>
        </p:spPr>
      </p:pic>
      <p:pic>
        <p:nvPicPr>
          <p:cNvPr id="15" name="Imagen 14">
            <a:extLst>
              <a:ext uri="{FF2B5EF4-FFF2-40B4-BE49-F238E27FC236}">
                <a16:creationId xmlns:a16="http://schemas.microsoft.com/office/drawing/2014/main" id="{E77B2E36-2E27-C2D5-0CC3-4B3BC7412205}"/>
              </a:ext>
            </a:extLst>
          </p:cNvPr>
          <p:cNvPicPr>
            <a:picLocks noChangeAspect="1"/>
          </p:cNvPicPr>
          <p:nvPr/>
        </p:nvPicPr>
        <p:blipFill>
          <a:blip r:embed="rId6"/>
          <a:stretch>
            <a:fillRect/>
          </a:stretch>
        </p:blipFill>
        <p:spPr>
          <a:xfrm>
            <a:off x="8986902" y="4063188"/>
            <a:ext cx="1707028" cy="800169"/>
          </a:xfrm>
          <a:prstGeom prst="rect">
            <a:avLst/>
          </a:prstGeom>
        </p:spPr>
      </p:pic>
      <p:pic>
        <p:nvPicPr>
          <p:cNvPr id="17" name="Imagen 16">
            <a:extLst>
              <a:ext uri="{FF2B5EF4-FFF2-40B4-BE49-F238E27FC236}">
                <a16:creationId xmlns:a16="http://schemas.microsoft.com/office/drawing/2014/main" id="{42F60128-10D3-07E6-62B9-E180F6EC5DC8}"/>
              </a:ext>
            </a:extLst>
          </p:cNvPr>
          <p:cNvPicPr>
            <a:picLocks noChangeAspect="1"/>
          </p:cNvPicPr>
          <p:nvPr/>
        </p:nvPicPr>
        <p:blipFill>
          <a:blip r:embed="rId7"/>
          <a:stretch>
            <a:fillRect/>
          </a:stretch>
        </p:blipFill>
        <p:spPr>
          <a:xfrm>
            <a:off x="6738013" y="5268170"/>
            <a:ext cx="3703641" cy="792549"/>
          </a:xfrm>
          <a:prstGeom prst="rect">
            <a:avLst/>
          </a:prstGeom>
        </p:spPr>
      </p:pic>
      <p:pic>
        <p:nvPicPr>
          <p:cNvPr id="19" name="Imagen 18">
            <a:extLst>
              <a:ext uri="{FF2B5EF4-FFF2-40B4-BE49-F238E27FC236}">
                <a16:creationId xmlns:a16="http://schemas.microsoft.com/office/drawing/2014/main" id="{D962F276-F64F-1530-B595-3D28B5D8B336}"/>
              </a:ext>
            </a:extLst>
          </p:cNvPr>
          <p:cNvPicPr>
            <a:picLocks noChangeAspect="1"/>
          </p:cNvPicPr>
          <p:nvPr/>
        </p:nvPicPr>
        <p:blipFill>
          <a:blip r:embed="rId8"/>
          <a:stretch>
            <a:fillRect/>
          </a:stretch>
        </p:blipFill>
        <p:spPr>
          <a:xfrm>
            <a:off x="5674930" y="3048144"/>
            <a:ext cx="5829805" cy="716342"/>
          </a:xfrm>
          <a:prstGeom prst="rect">
            <a:avLst/>
          </a:prstGeom>
        </p:spPr>
      </p:pic>
    </p:spTree>
    <p:extLst>
      <p:ext uri="{BB962C8B-B14F-4D97-AF65-F5344CB8AC3E}">
        <p14:creationId xmlns:p14="http://schemas.microsoft.com/office/powerpoint/2010/main" val="40346658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a:extLst>
            <a:ext uri="{FF2B5EF4-FFF2-40B4-BE49-F238E27FC236}">
              <a16:creationId xmlns:a16="http://schemas.microsoft.com/office/drawing/2014/main" id="{AF48E68A-7EEE-FA05-808F-D31A809317EE}"/>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634F16FF-0E86-A85B-FD82-08052B2EFDA0}"/>
              </a:ext>
            </a:extLst>
          </p:cNvPr>
          <p:cNvSpPr>
            <a:spLocks noGrp="1" noChangeArrowheads="1"/>
          </p:cNvSpPr>
          <p:nvPr>
            <p:ph type="title"/>
          </p:nvPr>
        </p:nvSpPr>
        <p:spPr>
          <a:xfrm>
            <a:off x="407368" y="333375"/>
            <a:ext cx="9814545" cy="1143000"/>
          </a:xfrm>
        </p:spPr>
        <p:txBody>
          <a:bodyPr>
            <a:normAutofit fontScale="90000"/>
          </a:bodyPr>
          <a:lstStyle/>
          <a:p>
            <a:r>
              <a:rPr lang="es-ES" altLang="en-US" sz="4000" dirty="0">
                <a:solidFill>
                  <a:schemeClr val="bg1"/>
                </a:solidFill>
              </a:rPr>
              <a:t>Motores de combustión interna / Ciclo Otto / Diesel </a:t>
            </a:r>
          </a:p>
        </p:txBody>
      </p:sp>
      <p:sp>
        <p:nvSpPr>
          <p:cNvPr id="24579" name="Rectangle 3">
            <a:extLst>
              <a:ext uri="{FF2B5EF4-FFF2-40B4-BE49-F238E27FC236}">
                <a16:creationId xmlns:a16="http://schemas.microsoft.com/office/drawing/2014/main" id="{7F552E85-65B8-9F7E-28B3-71A5937CED2B}"/>
              </a:ext>
            </a:extLst>
          </p:cNvPr>
          <p:cNvSpPr>
            <a:spLocks noGrp="1" noChangeArrowheads="1"/>
          </p:cNvSpPr>
          <p:nvPr>
            <p:ph idx="1"/>
          </p:nvPr>
        </p:nvSpPr>
        <p:spPr>
          <a:xfrm>
            <a:off x="407369" y="1600200"/>
            <a:ext cx="5199792" cy="5068888"/>
          </a:xfrm>
        </p:spPr>
        <p:txBody>
          <a:bodyPr>
            <a:normAutofit/>
          </a:bodyPr>
          <a:lstStyle/>
          <a:p>
            <a:r>
              <a:rPr lang="es-EC" sz="2400" u="sng" dirty="0">
                <a:solidFill>
                  <a:prstClr val="black"/>
                </a:solidFill>
              </a:rPr>
              <a:t>Ciclo </a:t>
            </a:r>
            <a:r>
              <a:rPr lang="es-EC" sz="2400" u="sng" dirty="0" err="1">
                <a:solidFill>
                  <a:prstClr val="black"/>
                </a:solidFill>
              </a:rPr>
              <a:t>diesel</a:t>
            </a:r>
            <a:endParaRPr lang="es-EC" sz="2400" u="sng" dirty="0">
              <a:solidFill>
                <a:prstClr val="black"/>
              </a:solidFill>
            </a:endParaRPr>
          </a:p>
          <a:p>
            <a:pPr marL="0" indent="0" algn="just">
              <a:buNone/>
            </a:pPr>
            <a:r>
              <a:rPr lang="es-ES" sz="2400" dirty="0">
                <a:solidFill>
                  <a:prstClr val="black"/>
                </a:solidFill>
              </a:rPr>
              <a:t>Los motores diésel operan con relaciones de compresión mucho más altas, por lo que suelen ser más eficientes que los de encendido por chispa (gasolina). Los motores diésel también queman el combustible de manera más completa, ya que usualmente operan a menores revoluciones por minuto y la relación de masa de aire y combustible es mucho mayor que en los motores de encendido por chispa.</a:t>
            </a:r>
            <a:endParaRPr lang="es-EC" sz="2400" dirty="0">
              <a:solidFill>
                <a:prstClr val="black"/>
              </a:solidFill>
            </a:endParaRPr>
          </a:p>
        </p:txBody>
      </p:sp>
      <p:sp>
        <p:nvSpPr>
          <p:cNvPr id="6" name="CuadroTexto 5">
            <a:extLst>
              <a:ext uri="{FF2B5EF4-FFF2-40B4-BE49-F238E27FC236}">
                <a16:creationId xmlns:a16="http://schemas.microsoft.com/office/drawing/2014/main" id="{397F841B-7D19-8F4D-DCBE-A8B8370243AE}"/>
              </a:ext>
            </a:extLst>
          </p:cNvPr>
          <p:cNvSpPr txBox="1"/>
          <p:nvPr/>
        </p:nvSpPr>
        <p:spPr>
          <a:xfrm>
            <a:off x="9756292" y="6423581"/>
            <a:ext cx="2316371" cy="369332"/>
          </a:xfrm>
          <a:prstGeom prst="rect">
            <a:avLst/>
          </a:prstGeom>
          <a:solidFill>
            <a:schemeClr val="bg1"/>
          </a:solidFill>
          <a:ln>
            <a:noFill/>
          </a:ln>
        </p:spPr>
        <p:txBody>
          <a:bodyPr wrap="square" rtlCol="0">
            <a:spAutoFit/>
          </a:bodyPr>
          <a:lstStyle/>
          <a:p>
            <a:endParaRPr lang="en-US" dirty="0"/>
          </a:p>
        </p:txBody>
      </p:sp>
      <p:sp>
        <p:nvSpPr>
          <p:cNvPr id="10" name="CuadroTexto 9">
            <a:extLst>
              <a:ext uri="{FF2B5EF4-FFF2-40B4-BE49-F238E27FC236}">
                <a16:creationId xmlns:a16="http://schemas.microsoft.com/office/drawing/2014/main" id="{BB8537C2-3921-24B0-DC7E-D0C2945A73DF}"/>
              </a:ext>
            </a:extLst>
          </p:cNvPr>
          <p:cNvSpPr txBox="1"/>
          <p:nvPr/>
        </p:nvSpPr>
        <p:spPr>
          <a:xfrm>
            <a:off x="9264352" y="4509120"/>
            <a:ext cx="576064" cy="369332"/>
          </a:xfrm>
          <a:prstGeom prst="rect">
            <a:avLst/>
          </a:prstGeom>
          <a:solidFill>
            <a:schemeClr val="bg1"/>
          </a:solidFill>
          <a:ln>
            <a:noFill/>
          </a:ln>
        </p:spPr>
        <p:txBody>
          <a:bodyPr wrap="square" rtlCol="0">
            <a:spAutoFit/>
          </a:bodyPr>
          <a:lstStyle/>
          <a:p>
            <a:endParaRPr lang="es-EC" dirty="0"/>
          </a:p>
        </p:txBody>
      </p:sp>
      <p:pic>
        <p:nvPicPr>
          <p:cNvPr id="7" name="Imagen 6">
            <a:extLst>
              <a:ext uri="{FF2B5EF4-FFF2-40B4-BE49-F238E27FC236}">
                <a16:creationId xmlns:a16="http://schemas.microsoft.com/office/drawing/2014/main" id="{61980077-F8B9-D6C6-3F6D-A81A2FCF2D0B}"/>
              </a:ext>
            </a:extLst>
          </p:cNvPr>
          <p:cNvPicPr>
            <a:picLocks noChangeAspect="1"/>
          </p:cNvPicPr>
          <p:nvPr/>
        </p:nvPicPr>
        <p:blipFill>
          <a:blip r:embed="rId3"/>
          <a:stretch>
            <a:fillRect/>
          </a:stretch>
        </p:blipFill>
        <p:spPr>
          <a:xfrm>
            <a:off x="5951984" y="1664312"/>
            <a:ext cx="5199791" cy="4881095"/>
          </a:xfrm>
          <a:prstGeom prst="rect">
            <a:avLst/>
          </a:prstGeom>
        </p:spPr>
      </p:pic>
    </p:spTree>
    <p:extLst>
      <p:ext uri="{BB962C8B-B14F-4D97-AF65-F5344CB8AC3E}">
        <p14:creationId xmlns:p14="http://schemas.microsoft.com/office/powerpoint/2010/main" val="210314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a:extLst>
            <a:ext uri="{FF2B5EF4-FFF2-40B4-BE49-F238E27FC236}">
              <a16:creationId xmlns:a16="http://schemas.microsoft.com/office/drawing/2014/main" id="{ADCB389A-8FF8-1AE7-CC99-2AA9412366F5}"/>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A6F1E38A-66DE-E0B5-FFCF-BDE1FDE1F009}"/>
              </a:ext>
            </a:extLst>
          </p:cNvPr>
          <p:cNvSpPr>
            <a:spLocks noGrp="1" noChangeArrowheads="1"/>
          </p:cNvSpPr>
          <p:nvPr>
            <p:ph type="title"/>
          </p:nvPr>
        </p:nvSpPr>
        <p:spPr>
          <a:xfrm>
            <a:off x="407368" y="333375"/>
            <a:ext cx="9814545" cy="1143000"/>
          </a:xfrm>
        </p:spPr>
        <p:txBody>
          <a:bodyPr>
            <a:normAutofit fontScale="90000"/>
          </a:bodyPr>
          <a:lstStyle/>
          <a:p>
            <a:r>
              <a:rPr lang="es-ES" altLang="en-US" sz="4000" dirty="0">
                <a:solidFill>
                  <a:schemeClr val="bg1"/>
                </a:solidFill>
              </a:rPr>
              <a:t>Motores de combustión interna / Ciclo Otto / Diesel </a:t>
            </a:r>
          </a:p>
        </p:txBody>
      </p:sp>
      <p:sp>
        <p:nvSpPr>
          <p:cNvPr id="24579" name="Rectangle 3">
            <a:extLst>
              <a:ext uri="{FF2B5EF4-FFF2-40B4-BE49-F238E27FC236}">
                <a16:creationId xmlns:a16="http://schemas.microsoft.com/office/drawing/2014/main" id="{DD7E6054-096D-246F-244A-FAF6747C3B6A}"/>
              </a:ext>
            </a:extLst>
          </p:cNvPr>
          <p:cNvSpPr>
            <a:spLocks noGrp="1" noChangeArrowheads="1"/>
          </p:cNvSpPr>
          <p:nvPr>
            <p:ph idx="1"/>
          </p:nvPr>
        </p:nvSpPr>
        <p:spPr>
          <a:xfrm>
            <a:off x="407368" y="1600200"/>
            <a:ext cx="11521279" cy="5068888"/>
          </a:xfrm>
        </p:spPr>
        <p:txBody>
          <a:bodyPr>
            <a:normAutofit/>
          </a:bodyPr>
          <a:lstStyle/>
          <a:p>
            <a:r>
              <a:rPr lang="es-EC" sz="2400" u="sng" dirty="0">
                <a:solidFill>
                  <a:prstClr val="black"/>
                </a:solidFill>
              </a:rPr>
              <a:t>Métodos de análisis con aire </a:t>
            </a:r>
          </a:p>
          <a:p>
            <a:endParaRPr lang="es-EC" sz="2400" u="sng" dirty="0">
              <a:solidFill>
                <a:prstClr val="black"/>
              </a:solidFill>
            </a:endParaRPr>
          </a:p>
        </p:txBody>
      </p:sp>
      <p:sp>
        <p:nvSpPr>
          <p:cNvPr id="6" name="CuadroTexto 5">
            <a:extLst>
              <a:ext uri="{FF2B5EF4-FFF2-40B4-BE49-F238E27FC236}">
                <a16:creationId xmlns:a16="http://schemas.microsoft.com/office/drawing/2014/main" id="{2A665E31-7693-B8B2-F511-B7788E2AAC02}"/>
              </a:ext>
            </a:extLst>
          </p:cNvPr>
          <p:cNvSpPr txBox="1"/>
          <p:nvPr/>
        </p:nvSpPr>
        <p:spPr>
          <a:xfrm>
            <a:off x="9756292" y="6423581"/>
            <a:ext cx="2316371" cy="369332"/>
          </a:xfrm>
          <a:prstGeom prst="rect">
            <a:avLst/>
          </a:prstGeom>
          <a:solidFill>
            <a:schemeClr val="bg1"/>
          </a:solidFill>
          <a:ln>
            <a:noFill/>
          </a:ln>
        </p:spPr>
        <p:txBody>
          <a:bodyPr wrap="square" rtlCol="0">
            <a:spAutoFit/>
          </a:bodyPr>
          <a:lstStyle/>
          <a:p>
            <a:endParaRPr lang="en-US" dirty="0"/>
          </a:p>
        </p:txBody>
      </p:sp>
      <p:sp>
        <p:nvSpPr>
          <p:cNvPr id="2" name="CuadroTexto 1">
            <a:extLst>
              <a:ext uri="{FF2B5EF4-FFF2-40B4-BE49-F238E27FC236}">
                <a16:creationId xmlns:a16="http://schemas.microsoft.com/office/drawing/2014/main" id="{0073506A-AD57-9D62-D777-8E3672E1F9B6}"/>
              </a:ext>
            </a:extLst>
          </p:cNvPr>
          <p:cNvSpPr txBox="1"/>
          <p:nvPr/>
        </p:nvSpPr>
        <p:spPr>
          <a:xfrm>
            <a:off x="5087888" y="5733256"/>
            <a:ext cx="1080120" cy="369332"/>
          </a:xfrm>
          <a:prstGeom prst="rect">
            <a:avLst/>
          </a:prstGeom>
          <a:solidFill>
            <a:schemeClr val="bg1"/>
          </a:solidFill>
          <a:ln>
            <a:noFill/>
          </a:ln>
        </p:spPr>
        <p:txBody>
          <a:bodyPr wrap="square" rtlCol="0">
            <a:spAutoFit/>
          </a:bodyPr>
          <a:lstStyle/>
          <a:p>
            <a:endParaRPr lang="es-EC" dirty="0"/>
          </a:p>
        </p:txBody>
      </p:sp>
      <p:sp>
        <p:nvSpPr>
          <p:cNvPr id="10" name="CuadroTexto 9">
            <a:extLst>
              <a:ext uri="{FF2B5EF4-FFF2-40B4-BE49-F238E27FC236}">
                <a16:creationId xmlns:a16="http://schemas.microsoft.com/office/drawing/2014/main" id="{B599C76C-14D9-FE28-5D63-E789D102B686}"/>
              </a:ext>
            </a:extLst>
          </p:cNvPr>
          <p:cNvSpPr txBox="1"/>
          <p:nvPr/>
        </p:nvSpPr>
        <p:spPr>
          <a:xfrm>
            <a:off x="9264352" y="4509120"/>
            <a:ext cx="576064" cy="369332"/>
          </a:xfrm>
          <a:prstGeom prst="rect">
            <a:avLst/>
          </a:prstGeom>
          <a:solidFill>
            <a:schemeClr val="bg1"/>
          </a:solidFill>
          <a:ln>
            <a:noFill/>
          </a:ln>
        </p:spPr>
        <p:txBody>
          <a:bodyPr wrap="square" rtlCol="0">
            <a:spAutoFit/>
          </a:bodyPr>
          <a:lstStyle/>
          <a:p>
            <a:endParaRPr lang="es-EC" dirty="0"/>
          </a:p>
        </p:txBody>
      </p:sp>
      <p:sp>
        <p:nvSpPr>
          <p:cNvPr id="4" name="Rectangle 2">
            <a:extLst>
              <a:ext uri="{FF2B5EF4-FFF2-40B4-BE49-F238E27FC236}">
                <a16:creationId xmlns:a16="http://schemas.microsoft.com/office/drawing/2014/main" id="{CF653DD2-6C6C-9AE6-4260-18C4BCA6C475}"/>
              </a:ext>
            </a:extLst>
          </p:cNvPr>
          <p:cNvSpPr/>
          <p:nvPr/>
        </p:nvSpPr>
        <p:spPr>
          <a:xfrm>
            <a:off x="432480" y="2164486"/>
            <a:ext cx="4882160" cy="1107996"/>
          </a:xfrm>
          <a:prstGeom prst="rect">
            <a:avLst/>
          </a:prstGeom>
        </p:spPr>
        <p:txBody>
          <a:bodyPr wrap="square">
            <a:spAutoFit/>
          </a:bodyPr>
          <a:lstStyle/>
          <a:p>
            <a:pPr algn="just"/>
            <a:r>
              <a:rPr lang="es-EC" sz="1500" b="1" dirty="0">
                <a:solidFill>
                  <a:srgbClr val="000000"/>
                </a:solidFill>
                <a:highlight>
                  <a:srgbClr val="00FF00"/>
                </a:highlight>
                <a:latin typeface="Century Gothic" panose="020B0502020202020204" pitchFamily="34" charset="0"/>
              </a:rPr>
              <a:t>Aproximado:</a:t>
            </a:r>
            <a:r>
              <a:rPr lang="es-EC" sz="1500" b="1" dirty="0">
                <a:solidFill>
                  <a:srgbClr val="000000"/>
                </a:solidFill>
                <a:latin typeface="Century Gothic" panose="020B0502020202020204" pitchFamily="34" charset="0"/>
              </a:rPr>
              <a:t> Calores específicos constantes</a:t>
            </a:r>
            <a:br>
              <a:rPr lang="es-EC" sz="1500" b="1" dirty="0">
                <a:solidFill>
                  <a:srgbClr val="000000"/>
                </a:solidFill>
                <a:latin typeface="Century Gothic" panose="020B0502020202020204" pitchFamily="34" charset="0"/>
              </a:rPr>
            </a:br>
            <a:r>
              <a:rPr lang="es-EC" sz="1500" b="1" dirty="0">
                <a:solidFill>
                  <a:srgbClr val="000000"/>
                </a:solidFill>
                <a:latin typeface="Century Gothic" panose="020B0502020202020204" pitchFamily="34" charset="0"/>
              </a:rPr>
              <a:t>(Uso Tabla A2)</a:t>
            </a:r>
          </a:p>
          <a:p>
            <a:pPr lvl="1"/>
            <a:endParaRPr lang="es-ES" b="1" dirty="0">
              <a:solidFill>
                <a:srgbClr val="000000"/>
              </a:solidFill>
              <a:latin typeface="Century Gothic" panose="020B0502020202020204" pitchFamily="34" charset="0"/>
            </a:endParaRPr>
          </a:p>
          <a:p>
            <a:endParaRPr lang="es-ES" b="1" dirty="0">
              <a:solidFill>
                <a:srgbClr val="000000"/>
              </a:solidFill>
              <a:latin typeface="Century Gothic" panose="020B0502020202020204" pitchFamily="34" charset="0"/>
            </a:endParaRPr>
          </a:p>
        </p:txBody>
      </p:sp>
      <p:sp>
        <p:nvSpPr>
          <p:cNvPr id="5" name="Rectangle 4">
            <a:extLst>
              <a:ext uri="{FF2B5EF4-FFF2-40B4-BE49-F238E27FC236}">
                <a16:creationId xmlns:a16="http://schemas.microsoft.com/office/drawing/2014/main" id="{DF650CB1-1467-C14F-B9DE-FE722FDCB85F}"/>
              </a:ext>
            </a:extLst>
          </p:cNvPr>
          <p:cNvSpPr/>
          <p:nvPr/>
        </p:nvSpPr>
        <p:spPr>
          <a:xfrm>
            <a:off x="6519286" y="2164486"/>
            <a:ext cx="4966710" cy="3754874"/>
          </a:xfrm>
          <a:prstGeom prst="rect">
            <a:avLst/>
          </a:prstGeom>
        </p:spPr>
        <p:txBody>
          <a:bodyPr wrap="square">
            <a:spAutoFit/>
          </a:bodyPr>
          <a:lstStyle/>
          <a:p>
            <a:pPr algn="just"/>
            <a:r>
              <a:rPr lang="es-EC" sz="1500" b="1" dirty="0" err="1">
                <a:solidFill>
                  <a:srgbClr val="000000"/>
                </a:solidFill>
                <a:highlight>
                  <a:srgbClr val="FFFF00"/>
                </a:highlight>
                <a:latin typeface="Century Gothic" panose="020B0502020202020204" pitchFamily="34" charset="0"/>
              </a:rPr>
              <a:t>Semiaproximado</a:t>
            </a:r>
            <a:r>
              <a:rPr lang="es-EC" sz="1500" b="1" dirty="0">
                <a:solidFill>
                  <a:srgbClr val="000000"/>
                </a:solidFill>
                <a:highlight>
                  <a:srgbClr val="FFFF00"/>
                </a:highlight>
                <a:latin typeface="Century Gothic" panose="020B0502020202020204" pitchFamily="34" charset="0"/>
              </a:rPr>
              <a:t>:</a:t>
            </a:r>
            <a:r>
              <a:rPr lang="es-EC" sz="1500" b="1" dirty="0">
                <a:solidFill>
                  <a:srgbClr val="000000"/>
                </a:solidFill>
                <a:latin typeface="Century Gothic" panose="020B0502020202020204" pitchFamily="34" charset="0"/>
              </a:rPr>
              <a:t> Calores específicos variables a temperaturas variables asumiendo aire como gas ideal (Uso Tabla A-17). </a:t>
            </a:r>
          </a:p>
          <a:p>
            <a:pPr algn="just"/>
            <a:endParaRPr lang="es-EC" sz="1500" b="1" dirty="0">
              <a:solidFill>
                <a:srgbClr val="000000"/>
              </a:solidFill>
              <a:latin typeface="Century Gothic" panose="020B0502020202020204" pitchFamily="34" charset="0"/>
            </a:endParaRPr>
          </a:p>
          <a:p>
            <a:pPr algn="just"/>
            <a:endParaRPr lang="es-ES" sz="1600" b="1" dirty="0">
              <a:solidFill>
                <a:srgbClr val="000000"/>
              </a:solidFill>
              <a:latin typeface="Century Gothic" panose="020B0502020202020204" pitchFamily="34" charset="0"/>
            </a:endParaRPr>
          </a:p>
          <a:p>
            <a:pPr algn="just"/>
            <a:endParaRPr lang="es-ES" sz="1600" b="1" dirty="0">
              <a:solidFill>
                <a:srgbClr val="000000"/>
              </a:solidFill>
              <a:latin typeface="Century Gothic" panose="020B0502020202020204" pitchFamily="34" charset="0"/>
            </a:endParaRPr>
          </a:p>
          <a:p>
            <a:pPr algn="just"/>
            <a:endParaRPr lang="es-ES" sz="1600" b="1" dirty="0">
              <a:solidFill>
                <a:srgbClr val="000000"/>
              </a:solidFill>
              <a:latin typeface="Century Gothic" panose="020B0502020202020204" pitchFamily="34" charset="0"/>
            </a:endParaRPr>
          </a:p>
          <a:p>
            <a:pPr algn="just"/>
            <a:endParaRPr lang="es-ES" sz="1600" b="1" dirty="0">
              <a:solidFill>
                <a:srgbClr val="000000"/>
              </a:solidFill>
              <a:latin typeface="Century Gothic" panose="020B0502020202020204" pitchFamily="34" charset="0"/>
            </a:endParaRPr>
          </a:p>
          <a:p>
            <a:pPr algn="just"/>
            <a:endParaRPr lang="es-ES" sz="1600" b="1" dirty="0">
              <a:solidFill>
                <a:srgbClr val="000000"/>
              </a:solidFill>
              <a:latin typeface="Century Gothic" panose="020B0502020202020204" pitchFamily="34" charset="0"/>
            </a:endParaRPr>
          </a:p>
          <a:p>
            <a:pPr algn="just"/>
            <a:endParaRPr lang="es-ES" sz="1600" b="1" dirty="0">
              <a:solidFill>
                <a:srgbClr val="000000"/>
              </a:solidFill>
              <a:latin typeface="Century Gothic" panose="020B0502020202020204" pitchFamily="34" charset="0"/>
            </a:endParaRPr>
          </a:p>
          <a:p>
            <a:pPr algn="just"/>
            <a:endParaRPr lang="es-ES" sz="1600" b="1" dirty="0">
              <a:solidFill>
                <a:srgbClr val="000000"/>
              </a:solidFill>
              <a:latin typeface="Century Gothic" panose="020B0502020202020204" pitchFamily="34" charset="0"/>
            </a:endParaRPr>
          </a:p>
          <a:p>
            <a:pPr algn="just"/>
            <a:endParaRPr lang="es-ES" sz="1600" b="1" dirty="0">
              <a:solidFill>
                <a:srgbClr val="000000"/>
              </a:solidFill>
              <a:latin typeface="Century Gothic" panose="020B0502020202020204" pitchFamily="34" charset="0"/>
            </a:endParaRPr>
          </a:p>
          <a:p>
            <a:pPr algn="just"/>
            <a:endParaRPr lang="es-ES" sz="1600" b="1" dirty="0">
              <a:solidFill>
                <a:srgbClr val="000000"/>
              </a:solidFill>
              <a:latin typeface="Century Gothic" panose="020B0502020202020204" pitchFamily="34" charset="0"/>
            </a:endParaRPr>
          </a:p>
          <a:p>
            <a:pPr algn="just"/>
            <a:r>
              <a:rPr lang="es-ES" sz="1600" b="1" dirty="0">
                <a:solidFill>
                  <a:srgbClr val="000000"/>
                </a:solidFill>
                <a:latin typeface="Century Gothic" panose="020B0502020202020204" pitchFamily="34" charset="0"/>
              </a:rPr>
              <a:t>Para ambos métodos:</a:t>
            </a:r>
          </a:p>
          <a:p>
            <a:endParaRPr lang="es-ES" b="1" dirty="0">
              <a:solidFill>
                <a:srgbClr val="000000"/>
              </a:solidFill>
              <a:latin typeface="Century Gothic" panose="020B0502020202020204" pitchFamily="34" charset="0"/>
            </a:endParaRPr>
          </a:p>
        </p:txBody>
      </p:sp>
      <p:pic>
        <p:nvPicPr>
          <p:cNvPr id="8" name="Imagen 7">
            <a:extLst>
              <a:ext uri="{FF2B5EF4-FFF2-40B4-BE49-F238E27FC236}">
                <a16:creationId xmlns:a16="http://schemas.microsoft.com/office/drawing/2014/main" id="{D50A2B88-E5CB-C814-FBAB-EC561EED2E48}"/>
              </a:ext>
            </a:extLst>
          </p:cNvPr>
          <p:cNvPicPr>
            <a:picLocks noChangeAspect="1"/>
          </p:cNvPicPr>
          <p:nvPr/>
        </p:nvPicPr>
        <p:blipFill>
          <a:blip r:embed="rId3"/>
          <a:stretch>
            <a:fillRect/>
          </a:stretch>
        </p:blipFill>
        <p:spPr>
          <a:xfrm>
            <a:off x="826389" y="3737521"/>
            <a:ext cx="4032448" cy="2466528"/>
          </a:xfrm>
          <a:prstGeom prst="rect">
            <a:avLst/>
          </a:prstGeom>
        </p:spPr>
      </p:pic>
      <p:pic>
        <p:nvPicPr>
          <p:cNvPr id="13" name="Imagen 12">
            <a:extLst>
              <a:ext uri="{FF2B5EF4-FFF2-40B4-BE49-F238E27FC236}">
                <a16:creationId xmlns:a16="http://schemas.microsoft.com/office/drawing/2014/main" id="{8BF44866-E105-8333-13A7-2D190E652A60}"/>
              </a:ext>
            </a:extLst>
          </p:cNvPr>
          <p:cNvPicPr>
            <a:picLocks noChangeAspect="1"/>
          </p:cNvPicPr>
          <p:nvPr/>
        </p:nvPicPr>
        <p:blipFill>
          <a:blip r:embed="rId4"/>
          <a:stretch>
            <a:fillRect/>
          </a:stretch>
        </p:blipFill>
        <p:spPr>
          <a:xfrm>
            <a:off x="991049" y="2648947"/>
            <a:ext cx="4323591" cy="1107996"/>
          </a:xfrm>
          <a:prstGeom prst="rect">
            <a:avLst/>
          </a:prstGeom>
        </p:spPr>
      </p:pic>
      <p:pic>
        <p:nvPicPr>
          <p:cNvPr id="15" name="Imagen 14">
            <a:extLst>
              <a:ext uri="{FF2B5EF4-FFF2-40B4-BE49-F238E27FC236}">
                <a16:creationId xmlns:a16="http://schemas.microsoft.com/office/drawing/2014/main" id="{61ECB76A-1451-B6FA-CBCB-17F5B5CA5A82}"/>
              </a:ext>
            </a:extLst>
          </p:cNvPr>
          <p:cNvPicPr>
            <a:picLocks noChangeAspect="1"/>
          </p:cNvPicPr>
          <p:nvPr/>
        </p:nvPicPr>
        <p:blipFill>
          <a:blip r:embed="rId5"/>
          <a:srcRect t="18837"/>
          <a:stretch>
            <a:fillRect/>
          </a:stretch>
        </p:blipFill>
        <p:spPr>
          <a:xfrm>
            <a:off x="6519286" y="3217091"/>
            <a:ext cx="4885940" cy="1551300"/>
          </a:xfrm>
          <a:prstGeom prst="rect">
            <a:avLst/>
          </a:prstGeom>
        </p:spPr>
      </p:pic>
      <p:pic>
        <p:nvPicPr>
          <p:cNvPr id="17" name="Imagen 16">
            <a:extLst>
              <a:ext uri="{FF2B5EF4-FFF2-40B4-BE49-F238E27FC236}">
                <a16:creationId xmlns:a16="http://schemas.microsoft.com/office/drawing/2014/main" id="{F0C4F29E-8194-F51C-095C-259D3AF85DA0}"/>
              </a:ext>
            </a:extLst>
          </p:cNvPr>
          <p:cNvPicPr>
            <a:picLocks noChangeAspect="1"/>
          </p:cNvPicPr>
          <p:nvPr/>
        </p:nvPicPr>
        <p:blipFill>
          <a:blip r:embed="rId6"/>
          <a:stretch>
            <a:fillRect/>
          </a:stretch>
        </p:blipFill>
        <p:spPr>
          <a:xfrm>
            <a:off x="7386532" y="5518119"/>
            <a:ext cx="3269070" cy="1004838"/>
          </a:xfrm>
          <a:prstGeom prst="rect">
            <a:avLst/>
          </a:prstGeom>
        </p:spPr>
      </p:pic>
    </p:spTree>
    <p:extLst>
      <p:ext uri="{BB962C8B-B14F-4D97-AF65-F5344CB8AC3E}">
        <p14:creationId xmlns:p14="http://schemas.microsoft.com/office/powerpoint/2010/main" val="3978225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a:extLst>
            <a:ext uri="{FF2B5EF4-FFF2-40B4-BE49-F238E27FC236}">
              <a16:creationId xmlns:a16="http://schemas.microsoft.com/office/drawing/2014/main" id="{47BEE9A8-48A7-AFF8-8063-481011F7A885}"/>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089C8F6A-1659-A6AF-90BB-4FACC5ADA9A4}"/>
              </a:ext>
            </a:extLst>
          </p:cNvPr>
          <p:cNvSpPr>
            <a:spLocks noGrp="1" noChangeArrowheads="1"/>
          </p:cNvSpPr>
          <p:nvPr>
            <p:ph type="title"/>
          </p:nvPr>
        </p:nvSpPr>
        <p:spPr>
          <a:xfrm>
            <a:off x="407368" y="333375"/>
            <a:ext cx="9814545" cy="1143000"/>
          </a:xfrm>
        </p:spPr>
        <p:txBody>
          <a:bodyPr>
            <a:normAutofit fontScale="90000"/>
          </a:bodyPr>
          <a:lstStyle/>
          <a:p>
            <a:r>
              <a:rPr lang="es-ES" altLang="en-US" sz="4000" dirty="0">
                <a:solidFill>
                  <a:schemeClr val="bg1"/>
                </a:solidFill>
              </a:rPr>
              <a:t>Motores de combustión interna / Ciclo Otto / Diesel </a:t>
            </a:r>
          </a:p>
        </p:txBody>
      </p:sp>
      <p:sp>
        <p:nvSpPr>
          <p:cNvPr id="24579" name="Rectangle 3">
            <a:extLst>
              <a:ext uri="{FF2B5EF4-FFF2-40B4-BE49-F238E27FC236}">
                <a16:creationId xmlns:a16="http://schemas.microsoft.com/office/drawing/2014/main" id="{BE560E72-2EE2-7B61-2B25-85EE47EA86C3}"/>
              </a:ext>
            </a:extLst>
          </p:cNvPr>
          <p:cNvSpPr>
            <a:spLocks noGrp="1" noChangeArrowheads="1"/>
          </p:cNvSpPr>
          <p:nvPr>
            <p:ph idx="1"/>
          </p:nvPr>
        </p:nvSpPr>
        <p:spPr>
          <a:xfrm>
            <a:off x="407368" y="1600200"/>
            <a:ext cx="11521279" cy="5068888"/>
          </a:xfrm>
        </p:spPr>
        <p:txBody>
          <a:bodyPr>
            <a:normAutofit/>
          </a:bodyPr>
          <a:lstStyle/>
          <a:p>
            <a:pPr marL="0" indent="0" algn="just">
              <a:buNone/>
            </a:pPr>
            <a:r>
              <a:rPr lang="es-ES" sz="2400" dirty="0">
                <a:solidFill>
                  <a:prstClr val="black"/>
                </a:solidFill>
              </a:rPr>
              <a:t>1) CICLO OTTO CON CALORES ESPECÍFICOS VARIABLES. Un ciclo de Otto ideal tiene una relación de compresión de 8. Al inicio del proceso de compresión el aire está a 100 kPa y 17°C, y 800 kJ/kg de calor se transfieren a volumen constante hacia el aire durante el proceso de adición de calor. Tome en cuenta la variación de los calores específicos del aire con la temperatura y determine a) la temperatura y presión máximas que ocurren durante el ciclo, b) la salida de trabajo neto, c) la eficiencia térmica y d) la presión media efectiva en el ciclo.</a:t>
            </a:r>
          </a:p>
          <a:p>
            <a:endParaRPr lang="es-EC" sz="2400" u="sng" dirty="0">
              <a:solidFill>
                <a:prstClr val="black"/>
              </a:solidFill>
            </a:endParaRPr>
          </a:p>
          <a:p>
            <a:pPr marL="0" indent="0" algn="just">
              <a:buNone/>
            </a:pPr>
            <a:r>
              <a:rPr lang="es-ES" sz="2400" dirty="0">
                <a:solidFill>
                  <a:prstClr val="black"/>
                </a:solidFill>
              </a:rPr>
              <a:t>2) Resuelva el ciclo Otto con el método de calores específicos constantes a una temperatura de 800 K. Compare ambos métodos y realice un comentario sobre cuál de ambos métodos considera más aproximado al ciclo real.</a:t>
            </a:r>
          </a:p>
          <a:p>
            <a:endParaRPr lang="es-EC" sz="2400" u="sng" dirty="0">
              <a:solidFill>
                <a:prstClr val="black"/>
              </a:solidFill>
            </a:endParaRPr>
          </a:p>
        </p:txBody>
      </p:sp>
      <p:sp>
        <p:nvSpPr>
          <p:cNvPr id="6" name="CuadroTexto 5">
            <a:extLst>
              <a:ext uri="{FF2B5EF4-FFF2-40B4-BE49-F238E27FC236}">
                <a16:creationId xmlns:a16="http://schemas.microsoft.com/office/drawing/2014/main" id="{985683C0-18A3-5A6C-3E84-42B50A734283}"/>
              </a:ext>
            </a:extLst>
          </p:cNvPr>
          <p:cNvSpPr txBox="1"/>
          <p:nvPr/>
        </p:nvSpPr>
        <p:spPr>
          <a:xfrm>
            <a:off x="9756292" y="6423581"/>
            <a:ext cx="2316371" cy="369332"/>
          </a:xfrm>
          <a:prstGeom prst="rect">
            <a:avLst/>
          </a:prstGeom>
          <a:solidFill>
            <a:schemeClr val="bg1"/>
          </a:solidFill>
          <a:ln>
            <a:noFill/>
          </a:ln>
        </p:spPr>
        <p:txBody>
          <a:bodyPr wrap="square" rtlCol="0">
            <a:spAutoFit/>
          </a:bodyPr>
          <a:lstStyle/>
          <a:p>
            <a:endParaRPr lang="en-US" dirty="0"/>
          </a:p>
        </p:txBody>
      </p:sp>
    </p:spTree>
    <p:extLst>
      <p:ext uri="{BB962C8B-B14F-4D97-AF65-F5344CB8AC3E}">
        <p14:creationId xmlns:p14="http://schemas.microsoft.com/office/powerpoint/2010/main" val="3324638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a:extLst>
            <a:ext uri="{FF2B5EF4-FFF2-40B4-BE49-F238E27FC236}">
              <a16:creationId xmlns:a16="http://schemas.microsoft.com/office/drawing/2014/main" id="{1E1B9265-0361-DC78-6AD4-0A3456DFA0E0}"/>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13A859D5-5760-A173-7725-DE9334B5F09D}"/>
              </a:ext>
            </a:extLst>
          </p:cNvPr>
          <p:cNvSpPr>
            <a:spLocks noGrp="1" noChangeArrowheads="1"/>
          </p:cNvSpPr>
          <p:nvPr>
            <p:ph type="title"/>
          </p:nvPr>
        </p:nvSpPr>
        <p:spPr>
          <a:xfrm>
            <a:off x="407368" y="333375"/>
            <a:ext cx="9814545" cy="1143000"/>
          </a:xfrm>
        </p:spPr>
        <p:txBody>
          <a:bodyPr>
            <a:normAutofit fontScale="90000"/>
          </a:bodyPr>
          <a:lstStyle/>
          <a:p>
            <a:r>
              <a:rPr lang="es-ES" altLang="en-US" sz="4000" dirty="0">
                <a:solidFill>
                  <a:schemeClr val="bg1"/>
                </a:solidFill>
              </a:rPr>
              <a:t>Motores de combustión interna / Ciclo Otto / Diesel </a:t>
            </a:r>
          </a:p>
        </p:txBody>
      </p:sp>
      <p:sp>
        <p:nvSpPr>
          <p:cNvPr id="24579" name="Rectangle 3">
            <a:extLst>
              <a:ext uri="{FF2B5EF4-FFF2-40B4-BE49-F238E27FC236}">
                <a16:creationId xmlns:a16="http://schemas.microsoft.com/office/drawing/2014/main" id="{F40B15FA-E438-F753-18A1-D089493AB5F0}"/>
              </a:ext>
            </a:extLst>
          </p:cNvPr>
          <p:cNvSpPr>
            <a:spLocks noGrp="1" noChangeArrowheads="1"/>
          </p:cNvSpPr>
          <p:nvPr>
            <p:ph idx="1"/>
          </p:nvPr>
        </p:nvSpPr>
        <p:spPr>
          <a:xfrm>
            <a:off x="407368" y="1600200"/>
            <a:ext cx="11521279" cy="5068888"/>
          </a:xfrm>
        </p:spPr>
        <p:txBody>
          <a:bodyPr>
            <a:normAutofit/>
          </a:bodyPr>
          <a:lstStyle/>
          <a:p>
            <a:pPr marL="0" indent="0" algn="just">
              <a:buNone/>
            </a:pPr>
            <a:r>
              <a:rPr lang="es-ES" sz="2400" dirty="0">
                <a:solidFill>
                  <a:prstClr val="black"/>
                </a:solidFill>
              </a:rPr>
              <a:t>3) MOTOR DIESEL CON CALORES ESPECÍFICOS COSTANTES. Un motor de ignición por compresión opera en un ciclo ideal Diesel con una relación de compresión de 20. El aire está a 95 kPa y 20°C al inicio del proceso de compresión. Si la temperatura máxima en el ciclo no ha de exceder 2200k, determine a) la eficiencia térmica y b) la presión media efectiva. Considere los calores específicos constantes a 300 K.</a:t>
            </a:r>
          </a:p>
          <a:p>
            <a:pPr marL="0" indent="0" algn="just">
              <a:buNone/>
            </a:pPr>
            <a:endParaRPr lang="es-ES" sz="2400" dirty="0">
              <a:solidFill>
                <a:prstClr val="black"/>
              </a:solidFill>
            </a:endParaRPr>
          </a:p>
          <a:p>
            <a:pPr marL="0" indent="0" algn="just">
              <a:buNone/>
            </a:pPr>
            <a:r>
              <a:rPr lang="es-ES" sz="2400" dirty="0">
                <a:solidFill>
                  <a:prstClr val="black"/>
                </a:solidFill>
              </a:rPr>
              <a:t>4) MOTOR DIESEL CON CALORES ESPECÍFICOS VARIABLES. Un motor de ignición por compresión opera en un ciclo ideal Diesel con una relación de compresión de 17. El aire está a 95 kPa y 57°C al inicio del proceso de compresión. Usar calores específicos variables, la relación de cierre de admisión es de 2.5, determine a) la temperatura máxima en el ciclo b) la producción neta de trabajo por ciclo por unidad de masa y la eficiencia térmica. </a:t>
            </a:r>
          </a:p>
          <a:p>
            <a:endParaRPr lang="es-EC" sz="2400" u="sng" dirty="0">
              <a:solidFill>
                <a:prstClr val="black"/>
              </a:solidFill>
            </a:endParaRPr>
          </a:p>
        </p:txBody>
      </p:sp>
      <p:sp>
        <p:nvSpPr>
          <p:cNvPr id="6" name="CuadroTexto 5">
            <a:extLst>
              <a:ext uri="{FF2B5EF4-FFF2-40B4-BE49-F238E27FC236}">
                <a16:creationId xmlns:a16="http://schemas.microsoft.com/office/drawing/2014/main" id="{01774AC6-FB25-DD7F-44D4-4C92DAB0A2B3}"/>
              </a:ext>
            </a:extLst>
          </p:cNvPr>
          <p:cNvSpPr txBox="1"/>
          <p:nvPr/>
        </p:nvSpPr>
        <p:spPr>
          <a:xfrm>
            <a:off x="9756292" y="6423581"/>
            <a:ext cx="2316371" cy="369332"/>
          </a:xfrm>
          <a:prstGeom prst="rect">
            <a:avLst/>
          </a:prstGeom>
          <a:solidFill>
            <a:schemeClr val="bg1"/>
          </a:solidFill>
          <a:ln>
            <a:noFill/>
          </a:ln>
        </p:spPr>
        <p:txBody>
          <a:bodyPr wrap="square" rtlCol="0">
            <a:spAutoFit/>
          </a:bodyPr>
          <a:lstStyle/>
          <a:p>
            <a:endParaRPr lang="en-US" dirty="0"/>
          </a:p>
        </p:txBody>
      </p:sp>
    </p:spTree>
    <p:extLst>
      <p:ext uri="{BB962C8B-B14F-4D97-AF65-F5344CB8AC3E}">
        <p14:creationId xmlns:p14="http://schemas.microsoft.com/office/powerpoint/2010/main" val="41654858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a:extLst>
            <a:ext uri="{FF2B5EF4-FFF2-40B4-BE49-F238E27FC236}">
              <a16:creationId xmlns:a16="http://schemas.microsoft.com/office/drawing/2014/main" id="{F3811DAE-16D1-DE36-7C25-800B13715740}"/>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9E7208DB-3FFF-AE7A-117E-FE6A57843FC3}"/>
              </a:ext>
            </a:extLst>
          </p:cNvPr>
          <p:cNvSpPr>
            <a:spLocks noGrp="1" noChangeArrowheads="1"/>
          </p:cNvSpPr>
          <p:nvPr>
            <p:ph type="title"/>
          </p:nvPr>
        </p:nvSpPr>
        <p:spPr>
          <a:xfrm>
            <a:off x="407368" y="333375"/>
            <a:ext cx="9814545" cy="1143000"/>
          </a:xfrm>
        </p:spPr>
        <p:txBody>
          <a:bodyPr>
            <a:normAutofit fontScale="90000"/>
          </a:bodyPr>
          <a:lstStyle/>
          <a:p>
            <a:r>
              <a:rPr lang="es-ES" altLang="en-US" sz="4000" dirty="0">
                <a:solidFill>
                  <a:schemeClr val="bg1"/>
                </a:solidFill>
              </a:rPr>
              <a:t>Motores de combustión interna / Ciclo Otto / Diesel </a:t>
            </a:r>
          </a:p>
        </p:txBody>
      </p:sp>
      <p:sp>
        <p:nvSpPr>
          <p:cNvPr id="24579" name="Rectangle 3">
            <a:extLst>
              <a:ext uri="{FF2B5EF4-FFF2-40B4-BE49-F238E27FC236}">
                <a16:creationId xmlns:a16="http://schemas.microsoft.com/office/drawing/2014/main" id="{B4559EFE-AB62-C68A-95B8-99E98D5F5FA9}"/>
              </a:ext>
            </a:extLst>
          </p:cNvPr>
          <p:cNvSpPr>
            <a:spLocks noGrp="1" noChangeArrowheads="1"/>
          </p:cNvSpPr>
          <p:nvPr>
            <p:ph idx="1"/>
          </p:nvPr>
        </p:nvSpPr>
        <p:spPr>
          <a:xfrm>
            <a:off x="407368" y="1600200"/>
            <a:ext cx="11521279" cy="5068888"/>
          </a:xfrm>
        </p:spPr>
        <p:txBody>
          <a:bodyPr>
            <a:normAutofit/>
          </a:bodyPr>
          <a:lstStyle/>
          <a:p>
            <a:pPr marL="0" indent="0" algn="just">
              <a:buNone/>
            </a:pPr>
            <a:r>
              <a:rPr lang="es-ES" sz="2400" dirty="0">
                <a:solidFill>
                  <a:prstClr val="black"/>
                </a:solidFill>
              </a:rPr>
              <a:t>5) Un motor de ignición por compresión de seis cilindros, cuatro tiempos, 4.5 L, opera en un ciclo ideal Diesel con una relación de compresión de 17 y relación de cierre de admisión de 2,5. El aire está a 95 kPa y 57°C al inicio del proceso de compresión y la velocidad de rotación del motor es de 2,000 rpm. El motor usa Diesel ligero con un poder calorífico de 42,500 kJ/kg, una relación aire-combustible de 24 y una eficiencia de combustión de 98 por ciento. Usando calores específicos variables, determine: </a:t>
            </a:r>
          </a:p>
          <a:p>
            <a:pPr marL="457200" indent="-457200" algn="just">
              <a:buAutoNum type="alphaLcParenR"/>
            </a:pPr>
            <a:r>
              <a:rPr lang="es-ES" sz="2400" dirty="0">
                <a:solidFill>
                  <a:prstClr val="black"/>
                </a:solidFill>
              </a:rPr>
              <a:t>la temperatura máxima en el ciclo y la relación de cierre de admisión</a:t>
            </a:r>
          </a:p>
          <a:p>
            <a:pPr marL="457200" indent="-457200" algn="just">
              <a:buAutoNum type="alphaLcParenR"/>
            </a:pPr>
            <a:r>
              <a:rPr lang="es-ES" sz="2400" dirty="0">
                <a:solidFill>
                  <a:prstClr val="black"/>
                </a:solidFill>
              </a:rPr>
              <a:t>la producción neta de trabajo por ciclo y la eficiencia térmica</a:t>
            </a:r>
          </a:p>
          <a:p>
            <a:pPr marL="457200" indent="-457200" algn="just">
              <a:buAutoNum type="alphaLcParenR"/>
            </a:pPr>
            <a:r>
              <a:rPr lang="es-ES" sz="2400" dirty="0">
                <a:solidFill>
                  <a:prstClr val="black"/>
                </a:solidFill>
              </a:rPr>
              <a:t>la presión media efectiva</a:t>
            </a:r>
          </a:p>
          <a:p>
            <a:pPr marL="457200" indent="-457200" algn="just">
              <a:buAutoNum type="alphaLcParenR"/>
            </a:pPr>
            <a:r>
              <a:rPr lang="es-ES" sz="2400" dirty="0">
                <a:solidFill>
                  <a:prstClr val="black"/>
                </a:solidFill>
              </a:rPr>
              <a:t>la producción neta de potencia</a:t>
            </a:r>
          </a:p>
          <a:p>
            <a:pPr marL="457200" indent="-457200" algn="just">
              <a:buAutoNum type="alphaLcParenR"/>
            </a:pPr>
            <a:r>
              <a:rPr lang="es-ES" sz="2400" dirty="0">
                <a:solidFill>
                  <a:prstClr val="black"/>
                </a:solidFill>
              </a:rPr>
              <a:t>el consumo específico de combustible, en g/kWh, definido como la relación de la masa de combustible consumido al trabajo neto producido.</a:t>
            </a:r>
            <a:endParaRPr lang="es-EC" sz="2400" u="sng" dirty="0">
              <a:solidFill>
                <a:prstClr val="black"/>
              </a:solidFill>
            </a:endParaRPr>
          </a:p>
        </p:txBody>
      </p:sp>
      <p:sp>
        <p:nvSpPr>
          <p:cNvPr id="6" name="CuadroTexto 5">
            <a:extLst>
              <a:ext uri="{FF2B5EF4-FFF2-40B4-BE49-F238E27FC236}">
                <a16:creationId xmlns:a16="http://schemas.microsoft.com/office/drawing/2014/main" id="{DD9F0772-CF8A-8825-2A2B-D929022545E0}"/>
              </a:ext>
            </a:extLst>
          </p:cNvPr>
          <p:cNvSpPr txBox="1"/>
          <p:nvPr/>
        </p:nvSpPr>
        <p:spPr>
          <a:xfrm>
            <a:off x="9756292" y="6423581"/>
            <a:ext cx="2316371" cy="369332"/>
          </a:xfrm>
          <a:prstGeom prst="rect">
            <a:avLst/>
          </a:prstGeom>
          <a:solidFill>
            <a:schemeClr val="bg1"/>
          </a:solidFill>
          <a:ln>
            <a:noFill/>
          </a:ln>
        </p:spPr>
        <p:txBody>
          <a:bodyPr wrap="square" rtlCol="0">
            <a:spAutoFit/>
          </a:bodyPr>
          <a:lstStyle/>
          <a:p>
            <a:endParaRPr lang="en-US" dirty="0"/>
          </a:p>
        </p:txBody>
      </p:sp>
    </p:spTree>
    <p:extLst>
      <p:ext uri="{BB962C8B-B14F-4D97-AF65-F5344CB8AC3E}">
        <p14:creationId xmlns:p14="http://schemas.microsoft.com/office/powerpoint/2010/main" val="1147876043"/>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2589</TotalTime>
  <Words>754</Words>
  <Application>Microsoft Office PowerPoint</Application>
  <PresentationFormat>Panorámica</PresentationFormat>
  <Paragraphs>59</Paragraphs>
  <Slides>12</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12</vt:i4>
      </vt:variant>
    </vt:vector>
  </HeadingPairs>
  <TitlesOfParts>
    <vt:vector size="18" baseType="lpstr">
      <vt:lpstr>Arial</vt:lpstr>
      <vt:lpstr>Calibri</vt:lpstr>
      <vt:lpstr>Calibri Light</vt:lpstr>
      <vt:lpstr>Century Gothic</vt:lpstr>
      <vt:lpstr>Wingdings</vt:lpstr>
      <vt:lpstr>Tema de Office</vt:lpstr>
      <vt:lpstr>MÁQUINAS TÉRMICAS</vt:lpstr>
      <vt:lpstr>Motores de combustión interna / Ciclo Otto / Diesel </vt:lpstr>
      <vt:lpstr>Motores de combustión interna / Ciclo Otto / Diesel </vt:lpstr>
      <vt:lpstr>Motores de combustión interna / Ciclo Otto </vt:lpstr>
      <vt:lpstr>Motores de combustión interna / Ciclo Otto </vt:lpstr>
      <vt:lpstr>Motores de combustión interna / Ciclo Otto </vt:lpstr>
      <vt:lpstr>Motores de combustión interna / Ciclo Otto / Diesel </vt:lpstr>
      <vt:lpstr>Motores de combustión interna / Ciclo Otto / Diesel </vt:lpstr>
      <vt:lpstr>Motores de combustión interna / Ciclo Otto / Diesel </vt:lpstr>
      <vt:lpstr>Motores de combustión interna / Ciclo Otto / Diesel </vt:lpstr>
      <vt:lpstr>Motores de combustión interna / Ciclo Otto / Diesel </vt:lpstr>
      <vt:lpstr>Motores de combustión interna / Ciclo Otto / Diesel </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Jonathan Loor</dc:creator>
  <cp:lastModifiedBy>JONATHAN GABRIEL LOOR BAUTISTA</cp:lastModifiedBy>
  <cp:revision>58</cp:revision>
  <dcterms:created xsi:type="dcterms:W3CDTF">2009-09-22T20:21:09Z</dcterms:created>
  <dcterms:modified xsi:type="dcterms:W3CDTF">2026-01-19T14:47:20Z</dcterms:modified>
</cp:coreProperties>
</file>