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9" r:id="rId10"/>
    <p:sldId id="287" r:id="rId11"/>
    <p:sldId id="288" r:id="rId12"/>
    <p:sldId id="29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9" autoAdjust="0"/>
    <p:restoredTop sz="95847" autoAdjust="0"/>
  </p:normalViewPr>
  <p:slideViewPr>
    <p:cSldViewPr>
      <p:cViewPr varScale="1">
        <p:scale>
          <a:sx n="83" d="100"/>
          <a:sy n="83" d="100"/>
        </p:scale>
        <p:origin x="86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766FDE8E-06EF-4E21-BC7E-D53B8367F1D7}"/>
    <pc:docChg chg="modSld sldOrd">
      <pc:chgData name="JONATHAN GABRIEL LOOR BAUTISTA" userId="4234489a-f210-4949-b3ca-adca1d814dab" providerId="ADAL" clId="{766FDE8E-06EF-4E21-BC7E-D53B8367F1D7}" dt="2026-04-02T10:05:45.458" v="3" actId="20577"/>
      <pc:docMkLst>
        <pc:docMk/>
      </pc:docMkLst>
      <pc:sldChg chg="modSp mod">
        <pc:chgData name="JONATHAN GABRIEL LOOR BAUTISTA" userId="4234489a-f210-4949-b3ca-adca1d814dab" providerId="ADAL" clId="{766FDE8E-06EF-4E21-BC7E-D53B8367F1D7}" dt="2026-04-02T10:05:45.458" v="3" actId="20577"/>
        <pc:sldMkLst>
          <pc:docMk/>
          <pc:sldMk cId="3192749992" sldId="284"/>
        </pc:sldMkLst>
        <pc:spChg chg="mod">
          <ac:chgData name="JONATHAN GABRIEL LOOR BAUTISTA" userId="4234489a-f210-4949-b3ca-adca1d814dab" providerId="ADAL" clId="{766FDE8E-06EF-4E21-BC7E-D53B8367F1D7}" dt="2026-04-02T10:05:45.458" v="3" actId="20577"/>
          <ac:spMkLst>
            <pc:docMk/>
            <pc:sldMk cId="3192749992" sldId="284"/>
            <ac:spMk id="13" creationId="{D8A6BCE7-85E1-3D3B-DFAF-A11B17F571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>
                <a:solidFill>
                  <a:schemeClr val="tx1"/>
                </a:solidFill>
              </a:rPr>
              <a:t>Conceptos fundamentales de energía, calor y trabajo. Sustancias puras.</a:t>
            </a: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B9265-0361-DC78-6AD4-0A3456DF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3A859D5-5760-A173-7725-DE9334B5F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Generalidades de la termodinámica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40B15FA-E438-F753-18A1-D089493AB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91944" y="1600200"/>
            <a:ext cx="6336703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TERMODINÁMICA: Ciencia que estudia la energía en forma de calor para producir trabajo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MÁQUINA TÉRMICA: Es una máquina que aprovecha el calor para producir trabajo.</a:t>
            </a:r>
          </a:p>
          <a:p>
            <a:endParaRPr lang="es-EC" sz="2400" u="sng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774AC6-FB25-DD7F-44D4-4C92DAB0A2B3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TERMODINÁMICA - Prodel, S.A.">
            <a:extLst>
              <a:ext uri="{FF2B5EF4-FFF2-40B4-BE49-F238E27FC236}">
                <a16:creationId xmlns:a16="http://schemas.microsoft.com/office/drawing/2014/main" id="{E483CAE5-0C96-DB31-4C44-A98E227B3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84" y="1600199"/>
            <a:ext cx="4743112" cy="49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é es una máquina térmica? – El calor">
            <a:extLst>
              <a:ext uri="{FF2B5EF4-FFF2-40B4-BE49-F238E27FC236}">
                <a16:creationId xmlns:a16="http://schemas.microsoft.com/office/drawing/2014/main" id="{E7C7BD4F-F98D-3AA7-1692-999AF8B1D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3728006"/>
            <a:ext cx="69056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48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11DAE-16D1-DE36-7C25-800B1371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E7208DB-3FFF-AE7A-117E-FE6A57843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Definiciones y transformación energética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>
                <a:extLst>
                  <a:ext uri="{FF2B5EF4-FFF2-40B4-BE49-F238E27FC236}">
                    <a16:creationId xmlns:a16="http://schemas.microsoft.com/office/drawing/2014/main" id="{B4559EFE-AB62-C68A-95B8-99E98D5F5FA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7368" y="1600200"/>
                <a:ext cx="5400600" cy="506888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ES" sz="2400" b="1" dirty="0">
                    <a:solidFill>
                      <a:prstClr val="black"/>
                    </a:solidFill>
                  </a:rPr>
                  <a:t>Calor</a:t>
                </a:r>
                <a:r>
                  <a:rPr lang="es-ES" sz="2400" dirty="0">
                    <a:solidFill>
                      <a:prstClr val="black"/>
                    </a:solidFill>
                  </a:rPr>
                  <a:t> (</a:t>
                </a:r>
                <a:r>
                  <a:rPr lang="es-ES" sz="2400" i="1" dirty="0">
                    <a:solidFill>
                      <a:prstClr val="black"/>
                    </a:solidFill>
                  </a:rPr>
                  <a:t>Q</a:t>
                </a:r>
                <a:r>
                  <a:rPr lang="es-ES" sz="2400" dirty="0">
                    <a:solidFill>
                      <a:prstClr val="black"/>
                    </a:solidFill>
                  </a:rPr>
                  <a:t>): Transferencia de energía desde un punto más energético a uno menos energético. 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 [J]; [cal]; [BTU]</a:t>
                </a:r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s-ES" sz="2400" b="1" dirty="0">
                    <a:solidFill>
                      <a:prstClr val="black"/>
                    </a:solidFill>
                  </a:rPr>
                  <a:t>Energía</a:t>
                </a:r>
                <a:r>
                  <a:rPr lang="es-ES" sz="2400" dirty="0">
                    <a:solidFill>
                      <a:prstClr val="black"/>
                    </a:solidFill>
                  </a:rPr>
                  <a:t> (</a:t>
                </a:r>
                <a:r>
                  <a:rPr lang="es-ES" sz="2400" i="1" dirty="0">
                    <a:solidFill>
                      <a:prstClr val="black"/>
                    </a:solidFill>
                  </a:rPr>
                  <a:t>E</a:t>
                </a:r>
                <a:r>
                  <a:rPr lang="es-ES" sz="2400" dirty="0">
                    <a:solidFill>
                      <a:prstClr val="black"/>
                    </a:solidFill>
                  </a:rPr>
                  <a:t>): capacidad para generar un trabajo 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 [J]; [cal]; [BTU]</a:t>
                </a:r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</a:pPr>
                <a:r>
                  <a:rPr lang="es-ES" sz="2400" b="1" dirty="0">
                    <a:solidFill>
                      <a:prstClr val="black"/>
                    </a:solidFill>
                  </a:rPr>
                  <a:t>Trabajo</a:t>
                </a:r>
                <a:r>
                  <a:rPr lang="es-ES" sz="2400" dirty="0">
                    <a:solidFill>
                      <a:prstClr val="black"/>
                    </a:solidFill>
                  </a:rPr>
                  <a:t> (</a:t>
                </a:r>
                <a:r>
                  <a:rPr lang="es-ES" sz="2400" i="1" dirty="0">
                    <a:solidFill>
                      <a:prstClr val="black"/>
                    </a:solidFill>
                  </a:rPr>
                  <a:t>W</a:t>
                </a:r>
                <a:r>
                  <a:rPr lang="es-ES" sz="2400" dirty="0">
                    <a:solidFill>
                      <a:prstClr val="black"/>
                    </a:solidFill>
                  </a:rPr>
                  <a:t>): capacidad para desplazar un cuerpo 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 [N-m] = [J]</a:t>
                </a:r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</a:pPr>
                <a:r>
                  <a:rPr lang="es-ES" sz="2400" b="1" dirty="0">
                    <a:solidFill>
                      <a:prstClr val="black"/>
                    </a:solidFill>
                  </a:rPr>
                  <a:t>Potencia</a:t>
                </a:r>
                <a:r>
                  <a:rPr lang="es-ES" sz="2400" dirty="0">
                    <a:solidFill>
                      <a:prstClr val="black"/>
                    </a:solidFill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E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s-ES" sz="2400" dirty="0">
                    <a:solidFill>
                      <a:prstClr val="black"/>
                    </a:solidFill>
                  </a:rPr>
                  <a:t>): rapidez para realizar un trabajo 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 [W]=[J/s] ; [BTU/h]</a:t>
                </a: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r>
                  <a:rPr lang="es-ES" sz="2400" dirty="0">
                    <a:solidFill>
                      <a:prstClr val="black"/>
                    </a:solidFill>
                    <a:highlight>
                      <a:srgbClr val="00FF00"/>
                    </a:highlight>
                    <a:sym typeface="Wingdings" panose="05000000000000000000" pitchFamily="2" charset="2"/>
                  </a:rPr>
                  <a:t>Principio de conservación de la energía</a:t>
                </a: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es-EC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579" name="Rectangle 3">
                <a:extLst>
                  <a:ext uri="{FF2B5EF4-FFF2-40B4-BE49-F238E27FC236}">
                    <a16:creationId xmlns:a16="http://schemas.microsoft.com/office/drawing/2014/main" id="{B4559EFE-AB62-C68A-95B8-99E98D5F5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600200"/>
                <a:ext cx="5400600" cy="5068888"/>
              </a:xfrm>
              <a:blipFill>
                <a:blip r:embed="rId3"/>
                <a:stretch>
                  <a:fillRect l="-1806" t="-1685" r="-1693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DD9F0772-CF8A-8825-2A2B-D929022545E0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0" name="Picture 2" descr="Ciclo Rankine">
            <a:extLst>
              <a:ext uri="{FF2B5EF4-FFF2-40B4-BE49-F238E27FC236}">
                <a16:creationId xmlns:a16="http://schemas.microsoft.com/office/drawing/2014/main" id="{D7E33285-4C0C-5BF1-C49A-4F0060355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1785658"/>
            <a:ext cx="6264695" cy="46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87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53095-CDB0-F6CD-B81D-EBD3B6E7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54B54C7-3368-0BBA-D8E1-D0A241EB8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Definiciones y transformación energética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08505DE-5AE4-5225-1866-9EBE75A23D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88088" y="1600200"/>
            <a:ext cx="496855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Ejercicio: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Determinar el costo mensual que se debe pagar por el uso de un refrigerador doméstico que tiene una potencia nominal de 3/8 [HP]. Considere que el costo de energía en el Ecuador es de $0,10 cada kW-h. Además, considere que el compresor solo trabaja la tercera parte en una hora.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1B7A0F-C438-7A41-F4A4-EDAF9581419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E4D79AF9-DE2D-558A-C42B-23EEC52B3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700808"/>
            <a:ext cx="6344772" cy="42058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8173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A72AE-1D90-9CF0-62B2-BB864475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13B0948-827E-AB3C-7D50-C79DC8E49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Sistemas cerrados y abiertos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A606ED3-5A2D-CF6A-1D51-5EAB4E3B22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Sistema: </a:t>
            </a:r>
            <a:r>
              <a:rPr lang="es-ES" sz="2400" dirty="0">
                <a:solidFill>
                  <a:prstClr val="black"/>
                </a:solidFill>
              </a:rPr>
              <a:t>Un sistema se define como una cantidad de materia o una región en el espacio elegida para análisis.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B4E7E0-0E24-5EFA-5817-29A711171A42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A08F76-19CB-2811-C0BA-AB3B4F817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2492896"/>
            <a:ext cx="2644369" cy="24157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80455A-50DC-6F08-E78E-F8BAE7C34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83" y="2509734"/>
            <a:ext cx="2697714" cy="241574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EC56ABF-997D-B76C-7C89-44047983A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963" y="2639285"/>
            <a:ext cx="2911092" cy="22861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C9B4B5A-71C2-C79D-B8C7-8BD83FB64529}"/>
              </a:ext>
            </a:extLst>
          </p:cNvPr>
          <p:cNvSpPr txBox="1"/>
          <p:nvPr/>
        </p:nvSpPr>
        <p:spPr>
          <a:xfrm>
            <a:off x="2855640" y="5137001"/>
            <a:ext cx="424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sz="1800" b="0" i="0" u="none" strike="noStrike" baseline="0" dirty="0">
                <a:latin typeface="Times-Roman"/>
              </a:rPr>
              <a:t>Un </a:t>
            </a:r>
            <a:r>
              <a:rPr lang="es-EC" sz="1800" b="1" i="0" u="none" strike="noStrike" baseline="0" dirty="0">
                <a:latin typeface="Times-Bold"/>
              </a:rPr>
              <a:t>sistema </a:t>
            </a:r>
            <a:r>
              <a:rPr lang="es-ES" sz="1800" b="1" i="0" u="none" strike="noStrike" baseline="0" dirty="0">
                <a:latin typeface="Times-Bold"/>
              </a:rPr>
              <a:t>cerrado </a:t>
            </a:r>
            <a:r>
              <a:rPr lang="es-ES" sz="1800" b="0" i="0" u="none" strike="noStrike" baseline="0" dirty="0">
                <a:latin typeface="Times-Roman"/>
              </a:rPr>
              <a:t>(conocido también como una </a:t>
            </a:r>
            <a:r>
              <a:rPr lang="es-ES" sz="1800" b="1" i="0" u="none" strike="noStrike" baseline="0" dirty="0">
                <a:latin typeface="Times-Bold"/>
              </a:rPr>
              <a:t>masa de control</a:t>
            </a:r>
            <a:r>
              <a:rPr lang="es-ES" sz="1800" b="0" i="0" u="none" strike="noStrike" baseline="0" dirty="0">
                <a:latin typeface="Times-Roman"/>
              </a:rPr>
              <a:t>) consta de una cantidad fija de masa y ninguna otra puede cruzar su frontera.</a:t>
            </a:r>
            <a:endParaRPr lang="es-EC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D748C7-E38F-4B68-3732-EF5BE534085A}"/>
              </a:ext>
            </a:extLst>
          </p:cNvPr>
          <p:cNvSpPr txBox="1"/>
          <p:nvPr/>
        </p:nvSpPr>
        <p:spPr>
          <a:xfrm>
            <a:off x="7356140" y="5099427"/>
            <a:ext cx="4248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baseline="0" dirty="0">
                <a:latin typeface="Times-Roman"/>
              </a:rPr>
              <a:t>Un </a:t>
            </a:r>
            <a:r>
              <a:rPr lang="es-ES" sz="1800" b="1" i="0" u="none" strike="noStrike" baseline="0" dirty="0">
                <a:latin typeface="Times-Bold"/>
              </a:rPr>
              <a:t>sistema abierto</a:t>
            </a:r>
            <a:r>
              <a:rPr lang="es-ES" sz="1800" b="0" i="0" u="none" strike="noStrike" baseline="0" dirty="0">
                <a:latin typeface="Times-Roman"/>
              </a:rPr>
              <a:t>, o un </a:t>
            </a:r>
            <a:r>
              <a:rPr lang="es-ES" sz="1800" b="1" i="0" u="none" strike="noStrike" baseline="0" dirty="0">
                <a:latin typeface="Times-Bold"/>
              </a:rPr>
              <a:t>volumen de control</a:t>
            </a:r>
            <a:r>
              <a:rPr lang="es-ES" sz="1800" b="0" i="0" u="none" strike="noStrike" baseline="0" dirty="0">
                <a:latin typeface="Times-Roman"/>
              </a:rPr>
              <a:t>, generalmente encierra un dispositivo que tiene que ver con </a:t>
            </a:r>
            <a:r>
              <a:rPr lang="es-ES" sz="1800" b="0" i="0" u="none" strike="noStrike" baseline="0" dirty="0">
                <a:highlight>
                  <a:srgbClr val="00FF00"/>
                </a:highlight>
                <a:latin typeface="Times-Roman"/>
              </a:rPr>
              <a:t>flujo másico</a:t>
            </a:r>
            <a:r>
              <a:rPr lang="es-ES" sz="1800" b="0" i="0" u="none" strike="noStrike" baseline="0" dirty="0">
                <a:latin typeface="Times-Roman"/>
              </a:rPr>
              <a:t>, como un compresor, turbina </a:t>
            </a:r>
            <a:r>
              <a:rPr lang="es-EC" sz="1800" b="0" i="0" u="none" strike="noStrike" baseline="0" dirty="0">
                <a:latin typeface="Times-Roman"/>
              </a:rPr>
              <a:t>o tobera.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2768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2441E-AEC1-4CFA-1F57-D8BC6057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0ABCE94-A88A-6773-68E8-5F98B7C4C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Propiedades de un sistema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A30EE63-1F5C-F275-CC99-89AD3BEC9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  <a:highlight>
                  <a:srgbClr val="00FF00"/>
                </a:highlight>
              </a:rPr>
              <a:t>Cualquier característica de un sistema se llama </a:t>
            </a:r>
            <a:r>
              <a:rPr lang="es-ES" sz="2400" b="1" dirty="0">
                <a:solidFill>
                  <a:prstClr val="black"/>
                </a:solidFill>
                <a:highlight>
                  <a:srgbClr val="00FF00"/>
                </a:highlight>
              </a:rPr>
              <a:t>propiedad.</a:t>
            </a: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Presión</a:t>
            </a:r>
            <a:r>
              <a:rPr lang="es-ES" sz="2400" dirty="0">
                <a:solidFill>
                  <a:prstClr val="black"/>
                </a:solidFill>
              </a:rPr>
              <a:t> (</a:t>
            </a:r>
            <a:r>
              <a:rPr lang="es-ES" sz="2400" i="1" dirty="0">
                <a:solidFill>
                  <a:prstClr val="black"/>
                </a:solidFill>
              </a:rPr>
              <a:t>P</a:t>
            </a:r>
            <a:r>
              <a:rPr lang="es-ES" sz="2400" dirty="0">
                <a:solidFill>
                  <a:prstClr val="black"/>
                </a:solidFill>
              </a:rPr>
              <a:t>): fuerza por unidad de área  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 [</a:t>
            </a:r>
            <a:r>
              <a:rPr lang="es-ES" sz="2400" dirty="0" err="1">
                <a:solidFill>
                  <a:prstClr val="black"/>
                </a:solidFill>
                <a:sym typeface="Wingdings" panose="05000000000000000000" pitchFamily="2" charset="2"/>
              </a:rPr>
              <a:t>Pa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]; [psi]</a:t>
            </a: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Temperatura</a:t>
            </a:r>
            <a:r>
              <a:rPr lang="es-ES" sz="2400" dirty="0">
                <a:solidFill>
                  <a:prstClr val="black"/>
                </a:solidFill>
              </a:rPr>
              <a:t> (</a:t>
            </a:r>
            <a:r>
              <a:rPr lang="es-ES" sz="2400" i="1" dirty="0">
                <a:solidFill>
                  <a:prstClr val="black"/>
                </a:solidFill>
              </a:rPr>
              <a:t>T</a:t>
            </a:r>
            <a:r>
              <a:rPr lang="es-ES" sz="2400" dirty="0">
                <a:solidFill>
                  <a:prstClr val="black"/>
                </a:solidFill>
              </a:rPr>
              <a:t>): propiedad que mide la energía interna 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 [</a:t>
            </a:r>
            <a:r>
              <a:rPr lang="es-ES" sz="2400" dirty="0" err="1">
                <a:solidFill>
                  <a:prstClr val="black"/>
                </a:solidFill>
                <a:sym typeface="Wingdings" panose="05000000000000000000" pitchFamily="2" charset="2"/>
              </a:rPr>
              <a:t>ºC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]; [</a:t>
            </a:r>
            <a:r>
              <a:rPr lang="es-ES" sz="2400" dirty="0" err="1">
                <a:solidFill>
                  <a:prstClr val="black"/>
                </a:solidFill>
                <a:sym typeface="Wingdings" panose="05000000000000000000" pitchFamily="2" charset="2"/>
              </a:rPr>
              <a:t>ºF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]</a:t>
            </a: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Volumen</a:t>
            </a:r>
            <a:r>
              <a:rPr lang="es-ES" sz="2400" dirty="0">
                <a:solidFill>
                  <a:prstClr val="black"/>
                </a:solidFill>
              </a:rPr>
              <a:t> (</a:t>
            </a:r>
            <a:r>
              <a:rPr lang="es-ES" sz="2400" i="1" dirty="0">
                <a:solidFill>
                  <a:prstClr val="black"/>
                </a:solidFill>
              </a:rPr>
              <a:t>V</a:t>
            </a:r>
            <a:r>
              <a:rPr lang="es-ES" sz="2400" dirty="0">
                <a:solidFill>
                  <a:prstClr val="black"/>
                </a:solidFill>
              </a:rPr>
              <a:t>): espacio que ocupa un cuerpo 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 [m</a:t>
            </a:r>
            <a:r>
              <a:rPr lang="es-ES" sz="2400" baseline="30000" dirty="0">
                <a:solidFill>
                  <a:prstClr val="black"/>
                </a:solidFill>
                <a:sym typeface="Wingdings" panose="05000000000000000000" pitchFamily="2" charset="2"/>
              </a:rPr>
              <a:t>3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]; [ft</a:t>
            </a:r>
            <a:r>
              <a:rPr lang="es-ES" sz="2400" baseline="30000" dirty="0">
                <a:solidFill>
                  <a:prstClr val="black"/>
                </a:solidFill>
                <a:sym typeface="Wingdings" panose="05000000000000000000" pitchFamily="2" charset="2"/>
              </a:rPr>
              <a:t>3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]</a:t>
            </a: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Masa</a:t>
            </a:r>
            <a:r>
              <a:rPr lang="es-ES" sz="2400" dirty="0">
                <a:solidFill>
                  <a:prstClr val="black"/>
                </a:solidFill>
              </a:rPr>
              <a:t> (</a:t>
            </a:r>
            <a:r>
              <a:rPr lang="es-ES" sz="2400" i="1" dirty="0">
                <a:solidFill>
                  <a:prstClr val="black"/>
                </a:solidFill>
              </a:rPr>
              <a:t>m</a:t>
            </a:r>
            <a:r>
              <a:rPr lang="es-ES" sz="2400" dirty="0">
                <a:solidFill>
                  <a:prstClr val="black"/>
                </a:solidFill>
              </a:rPr>
              <a:t>): cantidad de materia que tiene un cuerpo </a:t>
            </a:r>
            <a:r>
              <a:rPr lang="es-ES" sz="2400" dirty="0">
                <a:solidFill>
                  <a:prstClr val="black"/>
                </a:solidFill>
                <a:sym typeface="Wingdings" panose="05000000000000000000" pitchFamily="2" charset="2"/>
              </a:rPr>
              <a:t> [kg]; [lb-m]</a:t>
            </a: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E7869D-95D7-4D6A-D7E8-7166D0A2AA5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E2CA77-BEBC-35CF-35C6-DCFD0918F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52" y="4457629"/>
            <a:ext cx="1470787" cy="1600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0FD68DB-DEFC-09E9-6606-DD5F43AC7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420" y="4461833"/>
            <a:ext cx="2621507" cy="1623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2253D18-4698-8D4D-CEB9-7EF0654FD3AB}"/>
              </a:ext>
            </a:extLst>
          </p:cNvPr>
          <p:cNvSpPr/>
          <p:nvPr/>
        </p:nvSpPr>
        <p:spPr>
          <a:xfrm>
            <a:off x="2423323" y="5093414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A6BCE7-85E1-3D3B-DFAF-A11B17F57176}"/>
              </a:ext>
            </a:extLst>
          </p:cNvPr>
          <p:cNvSpPr txBox="1"/>
          <p:nvPr/>
        </p:nvSpPr>
        <p:spPr>
          <a:xfrm>
            <a:off x="6344583" y="4329520"/>
            <a:ext cx="55945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sz="2000" b="0" i="0" u="none" strike="noStrike" baseline="0" dirty="0">
                <a:latin typeface="Times-Roman"/>
              </a:rPr>
              <a:t>Las </a:t>
            </a:r>
            <a:r>
              <a:rPr lang="es-EC" sz="2000" b="1" i="0" u="none" strike="noStrike" baseline="0" dirty="0">
                <a:latin typeface="Times-Bold"/>
              </a:rPr>
              <a:t>propiedades </a:t>
            </a:r>
            <a:r>
              <a:rPr lang="es-ES" sz="2000" b="1" i="0" u="none" strike="noStrike" baseline="0" dirty="0">
                <a:latin typeface="Times-Bold"/>
              </a:rPr>
              <a:t>intensivas </a:t>
            </a:r>
            <a:r>
              <a:rPr lang="es-ES" sz="2000" b="0" i="0" u="none" strike="noStrike" baseline="0" dirty="0">
                <a:latin typeface="Times-Roman"/>
              </a:rPr>
              <a:t>son aquellas independientes de la masa de un sistema, como temperatura, presión y densidad. Las </a:t>
            </a:r>
            <a:r>
              <a:rPr lang="es-ES" sz="2000" b="1" i="0" u="none" strike="noStrike" baseline="0" dirty="0">
                <a:latin typeface="Times-Bold"/>
              </a:rPr>
              <a:t>propiedades extensivas </a:t>
            </a:r>
            <a:r>
              <a:rPr lang="es-ES" sz="2000" b="0" i="0" u="none" strike="noStrike" baseline="0" dirty="0">
                <a:latin typeface="Times-Roman"/>
              </a:rPr>
              <a:t>son aquellas cuyos valores dependen del tamaño o extensión del sistema. </a:t>
            </a:r>
            <a:endParaRPr lang="es-EC" sz="2000" dirty="0"/>
          </a:p>
        </p:txBody>
      </p:sp>
    </p:spTree>
    <p:extLst>
      <p:ext uri="{BB962C8B-B14F-4D97-AF65-F5344CB8AC3E}">
        <p14:creationId xmlns:p14="http://schemas.microsoft.com/office/powerpoint/2010/main" val="319274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29ADA-3D4D-9D7F-E3DD-4AD27D51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46F1DDB-B9BB-5B13-F234-41CD00701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Propiedades de un sistema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>
                <a:extLst>
                  <a:ext uri="{FF2B5EF4-FFF2-40B4-BE49-F238E27FC236}">
                    <a16:creationId xmlns:a16="http://schemas.microsoft.com/office/drawing/2014/main" id="{7F8D3FAF-29BE-EB04-0FC1-7C573104E09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7368" y="1600200"/>
                <a:ext cx="11449272" cy="506888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ES" sz="2400" b="1" dirty="0">
                    <a:solidFill>
                      <a:prstClr val="black"/>
                    </a:solidFill>
                  </a:rPr>
                  <a:t>Propiedades específicas</a:t>
                </a:r>
                <a:r>
                  <a:rPr lang="es-ES" sz="2400" dirty="0">
                    <a:solidFill>
                      <a:prstClr val="black"/>
                    </a:solidFill>
                  </a:rPr>
                  <a:t>: propiedad por unidad de masa</a:t>
                </a: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    ;     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s-E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];   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s-E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</a:pPr>
                <a:r>
                  <a:rPr lang="es-ES" sz="2400" b="1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Estado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: condición que depende del conjunto de propiedades, las mismas que deben mantenerse fijas.</a:t>
                </a: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Ejemplo: para el H</a:t>
                </a:r>
                <a:r>
                  <a:rPr lang="es-ES" sz="2400" baseline="-25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0</a:t>
                </a:r>
              </a:p>
              <a:p>
                <a:pPr marL="0" indent="0" algn="just">
                  <a:buNone/>
                </a:pPr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Estado 1: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eqArrPr>
                          <m:e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𝑎𝑡𝑚</m:t>
                                </m:r>
                              </m:e>
                            </m:d>
                          </m:e>
                          <m:e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𝑇</m:t>
                            </m:r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=60 [º</m:t>
                            </m:r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𝐶</m:t>
                            </m:r>
                            <m:r>
                              <a:rPr lang="es-E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r>
                  <a:rPr lang="es-ES" sz="24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                                     Estado 2: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eqArrPr>
                          <m:e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=0,2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𝑎𝑡𝑚</m:t>
                                </m:r>
                              </m:e>
                            </m:d>
                          </m:e>
                          <m:e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𝑇</m:t>
                            </m:r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=120 [º</m:t>
                            </m:r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𝐶</m:t>
                            </m:r>
                            <m:r>
                              <a:rPr lang="es-E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s-ES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es-ES" sz="24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es-EC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579" name="Rectangle 3">
                <a:extLst>
                  <a:ext uri="{FF2B5EF4-FFF2-40B4-BE49-F238E27FC236}">
                    <a16:creationId xmlns:a16="http://schemas.microsoft.com/office/drawing/2014/main" id="{7F8D3FAF-29BE-EB04-0FC1-7C573104E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600200"/>
                <a:ext cx="11449272" cy="5068888"/>
              </a:xfrm>
              <a:blipFill>
                <a:blip r:embed="rId3"/>
                <a:stretch>
                  <a:fillRect l="-852" t="-1685" r="-799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F47E1CB6-592E-9CC3-973A-253400887031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0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AE504-3B9E-A126-FBED-665D6C02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537B4B-AB60-4294-B416-93F8758CF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Propiedades de un sistema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7EDA0CD-7051-A3E7-389B-18DCE74CE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Postulado de estado</a:t>
            </a:r>
            <a:r>
              <a:rPr lang="es-ES" sz="2400" dirty="0">
                <a:solidFill>
                  <a:prstClr val="black"/>
                </a:solidFill>
              </a:rPr>
              <a:t>: el estado de un sistema compresible queda definido por 2 propiedades intensivas independientes, por ejemplo: </a:t>
            </a:r>
            <a:r>
              <a:rPr lang="es-ES" sz="2400" i="1" dirty="0">
                <a:solidFill>
                  <a:prstClr val="black"/>
                </a:solidFill>
              </a:rPr>
              <a:t>T</a:t>
            </a:r>
            <a:r>
              <a:rPr lang="es-ES" sz="2400" dirty="0">
                <a:solidFill>
                  <a:prstClr val="black"/>
                </a:solidFill>
              </a:rPr>
              <a:t> y </a:t>
            </a:r>
            <a:r>
              <a:rPr lang="es-ES" sz="2400" i="1" dirty="0">
                <a:solidFill>
                  <a:prstClr val="black"/>
                </a:solidFill>
              </a:rPr>
              <a:t>v.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  <a:highlight>
                  <a:srgbClr val="00FF00"/>
                </a:highlight>
              </a:rPr>
              <a:t>OJO</a:t>
            </a:r>
            <a:r>
              <a:rPr lang="es-ES" sz="2400" dirty="0">
                <a:solidFill>
                  <a:prstClr val="black"/>
                </a:solidFill>
                <a:highlight>
                  <a:srgbClr val="00FF00"/>
                </a:highlight>
              </a:rPr>
              <a:t>: la presión y temperatura no son independientes en el cambio de fase.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1A2ABC-3D1A-52FD-C30E-EFFABDC4C8D4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074" name="Picture 2" descr="Presión atmosférica y variación de oxígeno en altura">
            <a:extLst>
              <a:ext uri="{FF2B5EF4-FFF2-40B4-BE49-F238E27FC236}">
                <a16:creationId xmlns:a16="http://schemas.microsoft.com/office/drawing/2014/main" id="{3CE63576-F3F9-721B-4B0E-08A04B14D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808" y="3344893"/>
            <a:ext cx="4526632" cy="3448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ísica y Química de 1º de Bachillerato: Ebullición y evaporación">
            <a:extLst>
              <a:ext uri="{FF2B5EF4-FFF2-40B4-BE49-F238E27FC236}">
                <a16:creationId xmlns:a16="http://schemas.microsoft.com/office/drawing/2014/main" id="{47F4D71F-B718-5764-2F28-0F0F1B2FE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3342422"/>
            <a:ext cx="3744416" cy="3426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47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CEEEC-B166-8FEE-1412-F6210F1A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5E66D9C-43E1-026E-0979-2842A37E7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Presión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AE8765-D959-D0EE-1824-46504B515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La </a:t>
            </a:r>
            <a:r>
              <a:rPr lang="es-ES" sz="2400" b="1" dirty="0"/>
              <a:t>presión absoluta</a:t>
            </a:r>
            <a:r>
              <a:rPr lang="es-ES" sz="2400" dirty="0"/>
              <a:t> es la presión medida con respecto al vacío absoluto (cero absoluto). La mayoría de los instrumentos de medición están calibrados con base en la </a:t>
            </a:r>
            <a:r>
              <a:rPr lang="es-ES" sz="2400" b="1" dirty="0"/>
              <a:t>presión atmosférica</a:t>
            </a:r>
            <a:r>
              <a:rPr lang="es-ES" sz="2400" dirty="0"/>
              <a:t>, por lo que muestran la </a:t>
            </a:r>
            <a:r>
              <a:rPr lang="es-ES" sz="2400" b="1" dirty="0"/>
              <a:t>presión manométrica</a:t>
            </a:r>
            <a:r>
              <a:rPr lang="es-ES" sz="2400" dirty="0"/>
              <a:t>.</a:t>
            </a:r>
            <a:r>
              <a:rPr lang="es-ES" sz="2400" b="1" dirty="0"/>
              <a:t> </a:t>
            </a:r>
            <a:r>
              <a:rPr lang="es-ES" sz="2400" dirty="0"/>
              <a:t>Cuando la presión está por debajo de la atmosférica, se denomina </a:t>
            </a:r>
            <a:r>
              <a:rPr lang="es-ES" sz="2400" b="1" dirty="0"/>
              <a:t>presión de vacío</a:t>
            </a:r>
            <a:r>
              <a:rPr lang="es-ES" sz="2400" dirty="0"/>
              <a:t>.</a:t>
            </a:r>
            <a:endParaRPr lang="es-ES" sz="36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2692B9-193B-ED98-4D81-D57EB052B507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69C077-ABB3-C414-A6E1-1B5595D03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280" y="4164128"/>
            <a:ext cx="2920265" cy="1114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5BE136-9770-F045-0384-1AD62A45B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64" y="3149291"/>
            <a:ext cx="6515665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5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A719D-5F4B-2AA4-1594-71147EBA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3A6E1A-813B-FC46-FC76-10EB06012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Procesos y ciclos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EFE0469-D526-919F-AB97-0F1E8B3981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Cualquier cambio de un estado de equilibrio a otro experimentado por un sistema es un proceso, y se dice que un sistema ha experimentado un ciclo si regresa a su estado inicial al final del proceso, es decir, para un ciclo los estados inicial y final son idénticos.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6A7BE4-EC3D-D0C9-0370-124E1594F765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E613F1-DA19-0248-E152-C3F54380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2924944"/>
            <a:ext cx="4503658" cy="33123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A9EC89-BE56-0E25-2A31-F85572854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168" y="2689499"/>
            <a:ext cx="3513124" cy="416850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C2AB159-27B8-78BC-D73D-0B37C5F418BD}"/>
              </a:ext>
            </a:extLst>
          </p:cNvPr>
          <p:cNvSpPr txBox="1"/>
          <p:nvPr/>
        </p:nvSpPr>
        <p:spPr>
          <a:xfrm>
            <a:off x="9965247" y="4005064"/>
            <a:ext cx="1368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b="1" dirty="0"/>
              <a:t>Proceso de compresión </a:t>
            </a:r>
          </a:p>
        </p:txBody>
      </p:sp>
    </p:spTree>
    <p:extLst>
      <p:ext uri="{BB962C8B-B14F-4D97-AF65-F5344CB8AC3E}">
        <p14:creationId xmlns:p14="http://schemas.microsoft.com/office/powerpoint/2010/main" val="103057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047B4-0C70-63B2-F5CF-9FE409C0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A0BB147-AF58-EABE-65C6-0712ADB2E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Proceso de flujo estacionario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7288C2A-0A9F-76D0-D9F1-112093B4D7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Estacionario</a:t>
            </a:r>
            <a:r>
              <a:rPr lang="es-ES" sz="2400" dirty="0">
                <a:solidFill>
                  <a:prstClr val="black"/>
                </a:solidFill>
              </a:rPr>
              <a:t> significa que no hay cambio con el tiempo y su contrario es no estacionario o transitorio. Sin embargo, </a:t>
            </a:r>
            <a:r>
              <a:rPr lang="es-ES" sz="2400" b="1" dirty="0">
                <a:solidFill>
                  <a:prstClr val="black"/>
                </a:solidFill>
              </a:rPr>
              <a:t>uniforme</a:t>
            </a:r>
            <a:r>
              <a:rPr lang="es-ES" sz="2400" dirty="0">
                <a:solidFill>
                  <a:prstClr val="black"/>
                </a:solidFill>
              </a:rPr>
              <a:t> significa ningún cambio con la ubicación en una región específica.</a:t>
            </a: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B01F3A-C874-8968-6CB2-F22B73372C4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604C2E-A079-98E4-3AB3-EB51F4546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547548"/>
            <a:ext cx="3223539" cy="416850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E32DE39-7358-10B8-16FF-BB6D9D299F7A}"/>
              </a:ext>
            </a:extLst>
          </p:cNvPr>
          <p:cNvSpPr txBox="1"/>
          <p:nvPr/>
        </p:nvSpPr>
        <p:spPr>
          <a:xfrm>
            <a:off x="4871864" y="2738973"/>
            <a:ext cx="6912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0" i="0" u="none" strike="noStrike" baseline="0" dirty="0">
                <a:latin typeface="Times-Roman"/>
              </a:rPr>
              <a:t>Durante un proceso de flujo estacionario, las propiedades del fluido dentro del volumen de control podrían cambiar con la posición, pero no con el tiempo.</a:t>
            </a:r>
          </a:p>
          <a:p>
            <a:pPr algn="just"/>
            <a:endParaRPr lang="es-ES" sz="2400" dirty="0">
              <a:latin typeface="Times-Roman"/>
            </a:endParaRPr>
          </a:p>
          <a:p>
            <a:pPr algn="just"/>
            <a:r>
              <a:rPr lang="es-ES" sz="2400" b="0" i="0" u="none" strike="noStrike" baseline="0" dirty="0">
                <a:latin typeface="Times-Roman"/>
              </a:rPr>
              <a:t>Es posible aproximarse a las condiciones de flujo estacionario mediante </a:t>
            </a:r>
            <a:r>
              <a:rPr lang="es-EC" sz="2400" b="0" i="0" u="none" strike="noStrike" baseline="0" dirty="0">
                <a:latin typeface="Times-Roman"/>
              </a:rPr>
              <a:t>dispositivos diseñados para operar constantemente, como turbinas, bombas, calderas, condensadores, intercambiadores de calor, plantas de energía o sistemas de refrigeración.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3681866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5D480-849D-A01B-BC9D-36CF4AD6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A294952-DA2D-7CA8-009A-DB04E59BC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Formas de energía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073071F-C128-746F-50B5-D237089527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Las formas </a:t>
            </a:r>
            <a:r>
              <a:rPr lang="es-ES" sz="2400" b="1" dirty="0"/>
              <a:t>macroscópicas</a:t>
            </a:r>
            <a:r>
              <a:rPr lang="es-ES" sz="2400" dirty="0"/>
              <a:t> de energía son las que posee un sistema como un todo en relación con cierto marco de referencia exterior, como las energías cinética y potencial. Las formas </a:t>
            </a:r>
            <a:r>
              <a:rPr lang="es-ES" sz="2400" b="1" dirty="0"/>
              <a:t>microscópicas</a:t>
            </a:r>
            <a:r>
              <a:rPr lang="es-ES" sz="2400" dirty="0"/>
              <a:t> de energía son las que se relacionan con la estructura molecular de un sistema y el grado de la actividad molecular, y son independientes de los marcos de referencia externos.</a:t>
            </a: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 energía total de un sistema consta sólo de las energías cinética, potencial e interna, y se expresa como: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                                                                                                                            Energía total</a:t>
            </a: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C" sz="2400" dirty="0">
                <a:solidFill>
                  <a:prstClr val="black"/>
                </a:solidFill>
              </a:rPr>
              <a:t>								      Energía por unidad de masa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FFDAFD-981B-63DB-29D3-4C8C6236E70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E6A5AA-8F9F-3E3E-E283-2F33C044A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4365104"/>
            <a:ext cx="5944115" cy="746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D59E9D7-4D5B-A741-D493-8DD0622EC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981" y="5445224"/>
            <a:ext cx="5479255" cy="7163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843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2497</TotalTime>
  <Words>850</Words>
  <Application>Microsoft Office PowerPoint</Application>
  <PresentationFormat>Panorámica</PresentationFormat>
  <Paragraphs>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Times-Bold</vt:lpstr>
      <vt:lpstr>Times-Roman</vt:lpstr>
      <vt:lpstr>Wingdings</vt:lpstr>
      <vt:lpstr>Tema de Office</vt:lpstr>
      <vt:lpstr>MÁQUINAS TÉRMICAS</vt:lpstr>
      <vt:lpstr>Generalidades de la termodinámica</vt:lpstr>
      <vt:lpstr>Definiciones y transformación energética</vt:lpstr>
      <vt:lpstr>Definiciones y transformación energética</vt:lpstr>
      <vt:lpstr>Sistemas cerrados y abiertos</vt:lpstr>
      <vt:lpstr>Propiedades de un sistema</vt:lpstr>
      <vt:lpstr>Propiedades de un sistema</vt:lpstr>
      <vt:lpstr>Propiedades de un sistema</vt:lpstr>
      <vt:lpstr>Presión</vt:lpstr>
      <vt:lpstr>Procesos y ciclos</vt:lpstr>
      <vt:lpstr>Proceso de flujo estacionario</vt:lpstr>
      <vt:lpstr>Formas de energía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2026-04-02T10:05:55Z</dcterms:modified>
</cp:coreProperties>
</file>