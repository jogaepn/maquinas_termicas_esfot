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10" r:id="rId3"/>
    <p:sldId id="323" r:id="rId4"/>
    <p:sldId id="324" r:id="rId5"/>
    <p:sldId id="314" r:id="rId6"/>
    <p:sldId id="319" r:id="rId7"/>
    <p:sldId id="326" r:id="rId8"/>
    <p:sldId id="336" r:id="rId9"/>
    <p:sldId id="325" r:id="rId10"/>
    <p:sldId id="330" r:id="rId11"/>
    <p:sldId id="331" r:id="rId12"/>
    <p:sldId id="333" r:id="rId13"/>
    <p:sldId id="334" r:id="rId14"/>
    <p:sldId id="335" r:id="rId15"/>
    <p:sldId id="327" r:id="rId16"/>
    <p:sldId id="328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B436E5-4B0E-410B-A9B3-CA96A24A0D13}" v="1" dt="2026-01-21T20:39:19.8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29" autoAdjust="0"/>
    <p:restoredTop sz="95847" autoAdjust="0"/>
  </p:normalViewPr>
  <p:slideViewPr>
    <p:cSldViewPr>
      <p:cViewPr>
        <p:scale>
          <a:sx n="100" d="100"/>
          <a:sy n="100" d="100"/>
        </p:scale>
        <p:origin x="197" y="-65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ATHAN GABRIEL LOOR BAUTISTA" userId="4234489a-f210-4949-b3ca-adca1d814dab" providerId="ADAL" clId="{766FDE8E-06EF-4E21-BC7E-D53B8367F1D7}"/>
    <pc:docChg chg="undo custSel modSld">
      <pc:chgData name="JONATHAN GABRIEL LOOR BAUTISTA" userId="4234489a-f210-4949-b3ca-adca1d814dab" providerId="ADAL" clId="{766FDE8E-06EF-4E21-BC7E-D53B8367F1D7}" dt="2026-01-21T20:40:15.042" v="24" actId="14100"/>
      <pc:docMkLst>
        <pc:docMk/>
      </pc:docMkLst>
      <pc:sldChg chg="modSp mod">
        <pc:chgData name="JONATHAN GABRIEL LOOR BAUTISTA" userId="4234489a-f210-4949-b3ca-adca1d814dab" providerId="ADAL" clId="{766FDE8E-06EF-4E21-BC7E-D53B8367F1D7}" dt="2026-01-15T20:10:22.870" v="0" actId="13926"/>
        <pc:sldMkLst>
          <pc:docMk/>
          <pc:sldMk cId="607986624" sldId="327"/>
        </pc:sldMkLst>
        <pc:spChg chg="mod">
          <ac:chgData name="JONATHAN GABRIEL LOOR BAUTISTA" userId="4234489a-f210-4949-b3ca-adca1d814dab" providerId="ADAL" clId="{766FDE8E-06EF-4E21-BC7E-D53B8367F1D7}" dt="2026-01-15T20:10:22.870" v="0" actId="13926"/>
          <ac:spMkLst>
            <pc:docMk/>
            <pc:sldMk cId="607986624" sldId="327"/>
            <ac:spMk id="24579" creationId="{EF1CF27E-5AA2-1FB2-A53B-7B317B848EAA}"/>
          </ac:spMkLst>
        </pc:spChg>
      </pc:sldChg>
      <pc:sldChg chg="addSp delSp modSp mod">
        <pc:chgData name="JONATHAN GABRIEL LOOR BAUTISTA" userId="4234489a-f210-4949-b3ca-adca1d814dab" providerId="ADAL" clId="{766FDE8E-06EF-4E21-BC7E-D53B8367F1D7}" dt="2026-01-21T20:40:15.042" v="24" actId="14100"/>
        <pc:sldMkLst>
          <pc:docMk/>
          <pc:sldMk cId="593134209" sldId="328"/>
        </pc:sldMkLst>
        <pc:spChg chg="add del">
          <ac:chgData name="JONATHAN GABRIEL LOOR BAUTISTA" userId="4234489a-f210-4949-b3ca-adca1d814dab" providerId="ADAL" clId="{766FDE8E-06EF-4E21-BC7E-D53B8367F1D7}" dt="2026-01-21T20:38:51.129" v="3" actId="478"/>
          <ac:spMkLst>
            <pc:docMk/>
            <pc:sldMk cId="593134209" sldId="328"/>
            <ac:spMk id="2" creationId="{FFD3D539-946D-9492-3B0A-FFB85429277B}"/>
          </ac:spMkLst>
        </pc:spChg>
        <pc:spChg chg="add del mod">
          <ac:chgData name="JONATHAN GABRIEL LOOR BAUTISTA" userId="4234489a-f210-4949-b3ca-adca1d814dab" providerId="ADAL" clId="{766FDE8E-06EF-4E21-BC7E-D53B8367F1D7}" dt="2026-01-21T20:39:30.396" v="14" actId="478"/>
          <ac:spMkLst>
            <pc:docMk/>
            <pc:sldMk cId="593134209" sldId="328"/>
            <ac:spMk id="3" creationId="{5EB5DD5A-2AE4-7F38-1A19-3D3EC949EC61}"/>
          </ac:spMkLst>
        </pc:spChg>
        <pc:spChg chg="add del mod">
          <ac:chgData name="JONATHAN GABRIEL LOOR BAUTISTA" userId="4234489a-f210-4949-b3ca-adca1d814dab" providerId="ADAL" clId="{766FDE8E-06EF-4E21-BC7E-D53B8367F1D7}" dt="2026-01-21T20:39:26.689" v="11" actId="478"/>
          <ac:spMkLst>
            <pc:docMk/>
            <pc:sldMk cId="593134209" sldId="328"/>
            <ac:spMk id="4" creationId="{05151E79-13AF-7624-F24D-281B2CBE5518}"/>
          </ac:spMkLst>
        </pc:spChg>
        <pc:picChg chg="add del mod">
          <ac:chgData name="JONATHAN GABRIEL LOOR BAUTISTA" userId="4234489a-f210-4949-b3ca-adca1d814dab" providerId="ADAL" clId="{766FDE8E-06EF-4E21-BC7E-D53B8367F1D7}" dt="2026-01-21T20:39:29.018" v="13" actId="478"/>
          <ac:picMkLst>
            <pc:docMk/>
            <pc:sldMk cId="593134209" sldId="328"/>
            <ac:picMk id="5" creationId="{F5DD3D16-E5A5-BD2D-2F40-380727E7DAE2}"/>
          </ac:picMkLst>
        </pc:picChg>
        <pc:picChg chg="add mod">
          <ac:chgData name="JONATHAN GABRIEL LOOR BAUTISTA" userId="4234489a-f210-4949-b3ca-adca1d814dab" providerId="ADAL" clId="{766FDE8E-06EF-4E21-BC7E-D53B8367F1D7}" dt="2026-01-21T20:40:15.042" v="24" actId="14100"/>
          <ac:picMkLst>
            <pc:docMk/>
            <pc:sldMk cId="593134209" sldId="328"/>
            <ac:picMk id="8" creationId="{7E89A8C0-E9EF-9E22-8E79-46BDA3368662}"/>
          </ac:picMkLst>
        </pc:picChg>
      </pc:sldChg>
      <pc:sldChg chg="modSp mod">
        <pc:chgData name="JONATHAN GABRIEL LOOR BAUTISTA" userId="4234489a-f210-4949-b3ca-adca1d814dab" providerId="ADAL" clId="{766FDE8E-06EF-4E21-BC7E-D53B8367F1D7}" dt="2026-01-15T20:29:09.731" v="1" actId="13926"/>
        <pc:sldMkLst>
          <pc:docMk/>
          <pc:sldMk cId="2235455863" sldId="334"/>
        </pc:sldMkLst>
        <pc:spChg chg="mod">
          <ac:chgData name="JONATHAN GABRIEL LOOR BAUTISTA" userId="4234489a-f210-4949-b3ca-adca1d814dab" providerId="ADAL" clId="{766FDE8E-06EF-4E21-BC7E-D53B8367F1D7}" dt="2026-01-15T20:29:09.731" v="1" actId="13926"/>
          <ac:spMkLst>
            <pc:docMk/>
            <pc:sldMk cId="2235455863" sldId="334"/>
            <ac:spMk id="24579" creationId="{025D1490-8AEE-6747-D3E6-B8D5A7027A4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1AAEE-B1CB-4409-AC48-B4C88EB5A83F}" type="slidenum">
              <a:rPr lang="es-ES" altLang="en-US" smtClean="0"/>
              <a:pPr/>
              <a:t>‹Nº›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439026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EB28E-FB1D-4168-8929-5C31CA315BC9}" type="slidenum">
              <a:rPr lang="es-ES" altLang="en-US" smtClean="0"/>
              <a:pPr/>
              <a:t>‹Nº›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1922479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C3167-C126-47F5-BA6A-1969A43FAEE4}" type="slidenum">
              <a:rPr lang="es-ES" altLang="en-US" smtClean="0"/>
              <a:pPr/>
              <a:t>‹Nº›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3796394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22B72-CBDE-4E48-B0A3-67E9F34DE57E}" type="slidenum">
              <a:rPr lang="es-ES" altLang="en-US" smtClean="0"/>
              <a:pPr/>
              <a:t>‹Nº›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1345053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A2665-CF16-4166-80EF-F84716260039}" type="slidenum">
              <a:rPr lang="es-ES" altLang="en-US" smtClean="0"/>
              <a:pPr/>
              <a:t>‹Nº›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392284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F44F9-62F0-4245-9F46-5148319AB030}" type="slidenum">
              <a:rPr lang="es-ES" altLang="en-US" smtClean="0"/>
              <a:pPr/>
              <a:t>‹Nº›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772945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BBF86-F4B5-491B-B6E7-AEAE5525630C}" type="slidenum">
              <a:rPr lang="es-ES" altLang="en-US" smtClean="0"/>
              <a:pPr/>
              <a:t>‹Nº›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1690215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3E014-B337-4C44-917C-31E944BB8D55}" type="slidenum">
              <a:rPr lang="es-ES" altLang="en-US" smtClean="0"/>
              <a:pPr/>
              <a:t>‹Nº›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1578251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02505-0CDF-403D-BD97-5F8C25CF30E3}" type="slidenum">
              <a:rPr lang="es-ES" altLang="en-US" smtClean="0"/>
              <a:pPr/>
              <a:t>‹Nº›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2456272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61E40-AEE7-470E-9981-D707E1CE8AB3}" type="slidenum">
              <a:rPr lang="es-ES" altLang="en-US" smtClean="0"/>
              <a:pPr/>
              <a:t>‹Nº›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4158061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8B4A9-B335-42E7-A1F8-0274A5A9F227}" type="slidenum">
              <a:rPr lang="es-ES" altLang="en-US" smtClean="0"/>
              <a:pPr/>
              <a:t>‹Nº›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2548350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5E0ED4-231A-4844-B614-AE1835457F67}" type="slidenum">
              <a:rPr lang="es-ES" altLang="en-US" smtClean="0"/>
              <a:pPr/>
              <a:t>‹Nº›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4130864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631504" y="2420943"/>
            <a:ext cx="9433048" cy="1470025"/>
          </a:xfrm>
        </p:spPr>
        <p:txBody>
          <a:bodyPr anchor="ctr"/>
          <a:lstStyle/>
          <a:p>
            <a:r>
              <a:rPr lang="es-UY" altLang="en-US" sz="3200" b="1" dirty="0">
                <a:solidFill>
                  <a:schemeClr val="bg1"/>
                </a:solidFill>
              </a:rPr>
              <a:t>MÁQUINAS TÉRMICAS</a:t>
            </a:r>
            <a:endParaRPr lang="es-ES" altLang="en-US" sz="3200" b="1" dirty="0">
              <a:solidFill>
                <a:schemeClr val="bg1"/>
              </a:solidFill>
            </a:endParaRPr>
          </a:p>
        </p:txBody>
      </p:sp>
      <p:sp>
        <p:nvSpPr>
          <p:cNvPr id="2" name="CuadroTexto 1"/>
          <p:cNvSpPr txBox="1"/>
          <p:nvPr/>
        </p:nvSpPr>
        <p:spPr>
          <a:xfrm>
            <a:off x="10560496" y="6417253"/>
            <a:ext cx="1512168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631504" y="440748"/>
            <a:ext cx="8928992" cy="147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s-UY" altLang="en-US" sz="2800" b="1" dirty="0">
                <a:solidFill>
                  <a:schemeClr val="tx1"/>
                </a:solidFill>
              </a:rPr>
              <a:t>ESCUELA POLITÉCNICA NACIONAL</a:t>
            </a:r>
          </a:p>
          <a:p>
            <a:endParaRPr lang="es-UY" altLang="en-US" sz="2800" b="1" dirty="0">
              <a:solidFill>
                <a:schemeClr val="tx1"/>
              </a:solidFill>
            </a:endParaRPr>
          </a:p>
          <a:p>
            <a:r>
              <a:rPr lang="es-ES" altLang="en-US" sz="2800" b="1" dirty="0">
                <a:solidFill>
                  <a:schemeClr val="tx1"/>
                </a:solidFill>
              </a:rPr>
              <a:t>TÉCNOLOGÍA SUPERIOR EN ELECTROMECÁNICA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1559496" y="4509125"/>
            <a:ext cx="9793088" cy="147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s-UY" altLang="en-US" sz="2800" b="1" dirty="0">
                <a:solidFill>
                  <a:schemeClr val="tx1"/>
                </a:solidFill>
              </a:rPr>
              <a:t>TEMA: </a:t>
            </a:r>
            <a:r>
              <a:rPr lang="es-ES" altLang="en-US" sz="2800" b="1" dirty="0">
                <a:solidFill>
                  <a:schemeClr val="tx1"/>
                </a:solidFill>
              </a:rPr>
              <a:t>Ciclo Rankine con Recalentamiento y Regeneración</a:t>
            </a:r>
          </a:p>
          <a:p>
            <a:endParaRPr lang="es-ES" altLang="en-US" sz="2800" b="1" dirty="0">
              <a:solidFill>
                <a:schemeClr val="tx1"/>
              </a:solidFill>
            </a:endParaRPr>
          </a:p>
          <a:p>
            <a:r>
              <a:rPr lang="es-ES" altLang="en-US" sz="2800" b="1" dirty="0">
                <a:solidFill>
                  <a:schemeClr val="tx1"/>
                </a:solidFill>
              </a:rPr>
              <a:t>Docente: Jonathan Loor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26A687-1E6E-B9FA-7F5F-63A13097C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F704A0B1-6CFE-A1DB-B041-736278967E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7368" y="333375"/>
            <a:ext cx="9814545" cy="1143000"/>
          </a:xfrm>
        </p:spPr>
        <p:txBody>
          <a:bodyPr>
            <a:normAutofit/>
          </a:bodyPr>
          <a:lstStyle/>
          <a:p>
            <a:r>
              <a:rPr lang="es-ES" altLang="en-US" sz="4000" dirty="0">
                <a:solidFill>
                  <a:schemeClr val="bg1"/>
                </a:solidFill>
              </a:rPr>
              <a:t>Mejoramiento de la eficiencia ciclo Rankine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1888D9FB-8D9F-D797-B0CA-E72C7D9328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07367" y="1600200"/>
            <a:ext cx="5832649" cy="506888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ES" sz="2400" b="1" dirty="0">
                <a:solidFill>
                  <a:prstClr val="black"/>
                </a:solidFill>
              </a:rPr>
              <a:t>Reducción de la presión del condensador</a:t>
            </a:r>
          </a:p>
          <a:p>
            <a:pPr marL="0" indent="0" algn="just">
              <a:buNone/>
            </a:pPr>
            <a:r>
              <a:rPr lang="es-ES" sz="2400" dirty="0">
                <a:solidFill>
                  <a:prstClr val="black"/>
                </a:solidFill>
              </a:rPr>
              <a:t>La reducción de la presión del condensador no deja de tener efectos colaterales. Por un lado, crea la posibilidad de las filtraciones de aire dentro del condensador; y más importante aún es el incremento del contenido de humedad del vapor en las etapas finales de la turbina, como puede verse en la figura. </a:t>
            </a:r>
          </a:p>
          <a:p>
            <a:pPr marL="0" indent="0" algn="just">
              <a:buNone/>
            </a:pPr>
            <a:r>
              <a:rPr lang="es-ES" sz="2400" dirty="0">
                <a:solidFill>
                  <a:prstClr val="black"/>
                </a:solidFill>
              </a:rPr>
              <a:t>La presencia de grandes cantidades de humedad es indeseable en las turbinas, porque disminuye su eficiencia y erosiona sus álabes.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3C5D3CA-D08D-6700-ED4B-9E242C22B58F}"/>
              </a:ext>
            </a:extLst>
          </p:cNvPr>
          <p:cNvSpPr txBox="1"/>
          <p:nvPr/>
        </p:nvSpPr>
        <p:spPr>
          <a:xfrm>
            <a:off x="9756292" y="6423581"/>
            <a:ext cx="2316371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D41AA06-2D6B-6D9A-7EC8-D40E7A32BB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048" y="1594113"/>
            <a:ext cx="5184576" cy="5076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950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BD55E1-4CD1-8031-5238-042B44A9E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F6602DA1-CEB7-59B4-E108-835B120B5C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7368" y="333375"/>
            <a:ext cx="9814545" cy="1143000"/>
          </a:xfrm>
        </p:spPr>
        <p:txBody>
          <a:bodyPr>
            <a:normAutofit/>
          </a:bodyPr>
          <a:lstStyle/>
          <a:p>
            <a:r>
              <a:rPr lang="es-ES" altLang="en-US" sz="4000" dirty="0">
                <a:solidFill>
                  <a:schemeClr val="bg1"/>
                </a:solidFill>
              </a:rPr>
              <a:t>Mejoramiento de la eficiencia ciclo Rankine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EE9715AF-BAEE-3C6C-4DB1-91730CFE303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07367" y="1600200"/>
            <a:ext cx="5832649" cy="506888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ES" sz="2400" b="1" dirty="0">
                <a:solidFill>
                  <a:prstClr val="black"/>
                </a:solidFill>
              </a:rPr>
              <a:t>Sobrecalentamiento del vapor a altas temperaturas</a:t>
            </a:r>
          </a:p>
          <a:p>
            <a:pPr marL="0" indent="0" algn="just">
              <a:buNone/>
            </a:pPr>
            <a:r>
              <a:rPr lang="es-ES" sz="2400" dirty="0">
                <a:solidFill>
                  <a:prstClr val="black"/>
                </a:solidFill>
              </a:rPr>
              <a:t>La temperatura a la que el vapor se sobrecalienta está limitada debido a consideraciones metalúrgicas. En la actualidad la temperatura de vapor más alta permisible en la entrada de la turbina es de aproximadamente 620 °C. </a:t>
            </a:r>
          </a:p>
          <a:p>
            <a:pPr marL="0" indent="0" algn="just">
              <a:buNone/>
            </a:pPr>
            <a:r>
              <a:rPr lang="es-ES" sz="2400" dirty="0">
                <a:solidFill>
                  <a:prstClr val="black"/>
                </a:solidFill>
              </a:rPr>
              <a:t>Cualquier incremento en este valor depende del mejoramiento de los materiales actuales o del descubrimiento de otros nuevos que puedan soportar temperaturas más altas.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9EF05D4-177E-DDD7-4CCE-764D2F54356D}"/>
              </a:ext>
            </a:extLst>
          </p:cNvPr>
          <p:cNvSpPr txBox="1"/>
          <p:nvPr/>
        </p:nvSpPr>
        <p:spPr>
          <a:xfrm>
            <a:off x="9756292" y="6423581"/>
            <a:ext cx="2316371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8780423-3337-C765-F934-7A5D0DA077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055" y="1600200"/>
            <a:ext cx="5184577" cy="5193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233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1FBECF-ACF7-3DF8-143B-FA53681B4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7AD0CA8A-06ED-24E4-C30B-A4BCFA71D7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7368" y="333375"/>
            <a:ext cx="9814545" cy="1143000"/>
          </a:xfrm>
        </p:spPr>
        <p:txBody>
          <a:bodyPr>
            <a:normAutofit/>
          </a:bodyPr>
          <a:lstStyle/>
          <a:p>
            <a:r>
              <a:rPr lang="es-ES" altLang="en-US" sz="4000" dirty="0">
                <a:solidFill>
                  <a:schemeClr val="bg1"/>
                </a:solidFill>
              </a:rPr>
              <a:t>Mejoramiento de la eficiencia ciclo Rankine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C42D170E-1ED3-3AB8-E976-62169F09EB0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07367" y="1600200"/>
            <a:ext cx="5832649" cy="506888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ES" sz="2400" b="1" dirty="0">
                <a:solidFill>
                  <a:prstClr val="black"/>
                </a:solidFill>
              </a:rPr>
              <a:t>Incremento de la presión de la caldera</a:t>
            </a:r>
          </a:p>
          <a:p>
            <a:pPr marL="0" indent="0" algn="just">
              <a:buNone/>
            </a:pPr>
            <a:r>
              <a:rPr lang="es-ES" sz="2400" dirty="0">
                <a:solidFill>
                  <a:prstClr val="black"/>
                </a:solidFill>
              </a:rPr>
              <a:t>Las presiones de operación de las calderas se han incrementado en forma gradual a lo largo de los años, desde 2.7 MPa (400 </a:t>
            </a:r>
            <a:r>
              <a:rPr lang="es-ES" sz="2400" dirty="0" err="1">
                <a:solidFill>
                  <a:prstClr val="black"/>
                </a:solidFill>
              </a:rPr>
              <a:t>psia</a:t>
            </a:r>
            <a:r>
              <a:rPr lang="es-ES" sz="2400" dirty="0">
                <a:solidFill>
                  <a:prstClr val="black"/>
                </a:solidFill>
              </a:rPr>
              <a:t>) en 1922, hasta más de 30 MPa (4500 </a:t>
            </a:r>
            <a:r>
              <a:rPr lang="es-ES" sz="2400" dirty="0" err="1">
                <a:solidFill>
                  <a:prstClr val="black"/>
                </a:solidFill>
              </a:rPr>
              <a:t>psia</a:t>
            </a:r>
            <a:r>
              <a:rPr lang="es-ES" sz="2400" dirty="0">
                <a:solidFill>
                  <a:prstClr val="black"/>
                </a:solidFill>
              </a:rPr>
              <a:t>) en la actualidad, generando el suficiente vapor para producir una salida neta de potencia de 1000 MW o más en una central eléctrica grande de vapor. Actualmente, muchas de estas modernas centrales operan a presiones supercríticas (P &gt; 22.06 MPa) y tienen eficiencias térmicas de 40 por ciento en el caso de centrales que funcionan con combustibles fósiles y de 34 por ciento para las nucleoeléctricas.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4FD5800-E1C9-FC36-E0AE-3D88D073FE1C}"/>
              </a:ext>
            </a:extLst>
          </p:cNvPr>
          <p:cNvSpPr txBox="1"/>
          <p:nvPr/>
        </p:nvSpPr>
        <p:spPr>
          <a:xfrm>
            <a:off x="9756292" y="6423581"/>
            <a:ext cx="2316371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3044021-AF5F-53B3-533D-02526449B9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6039" y="1598743"/>
            <a:ext cx="5328593" cy="5181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0132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00323B-2792-6031-DA42-54C25D341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B8348CD8-0A92-1659-888C-22AAF4F4C7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7368" y="333375"/>
            <a:ext cx="9814545" cy="1143000"/>
          </a:xfrm>
        </p:spPr>
        <p:txBody>
          <a:bodyPr>
            <a:normAutofit/>
          </a:bodyPr>
          <a:lstStyle/>
          <a:p>
            <a:r>
              <a:rPr lang="es-ES" altLang="en-US" sz="4000" dirty="0">
                <a:solidFill>
                  <a:schemeClr val="bg1"/>
                </a:solidFill>
              </a:rPr>
              <a:t>Ejercicios de aplicación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0EB9277F-C240-AC09-7113-B4F8D0B000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07367" y="1600200"/>
            <a:ext cx="11305257" cy="506888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ES" sz="2400" b="1" dirty="0">
                <a:solidFill>
                  <a:prstClr val="black"/>
                </a:solidFill>
              </a:rPr>
              <a:t>Efecto de la presión y la temperatura de la caldera sobre la eficiencia</a:t>
            </a:r>
          </a:p>
          <a:p>
            <a:pPr marL="457200" indent="-457200" algn="just">
              <a:buAutoNum type="arabicParenR"/>
            </a:pPr>
            <a:endParaRPr lang="es-ES" sz="2400" dirty="0">
              <a:solidFill>
                <a:prstClr val="black"/>
              </a:solidFill>
            </a:endParaRPr>
          </a:p>
          <a:p>
            <a:pPr marL="457200" indent="-457200" algn="just">
              <a:buAutoNum type="arabicParenR"/>
            </a:pPr>
            <a:r>
              <a:rPr lang="es-ES" sz="2400" dirty="0">
                <a:solidFill>
                  <a:prstClr val="black"/>
                </a:solidFill>
              </a:rPr>
              <a:t>Considere una central eléctrica de vapor que opera con el ciclo Rankine ideal. El vapor entra a la turbina a 3 MPa y 350 °C y se condensa en el condensador a una presión de 10 kPa. Determine: </a:t>
            </a:r>
          </a:p>
          <a:p>
            <a:pPr marL="457200" indent="-457200" algn="just">
              <a:buAutoNum type="alphaLcParenR"/>
            </a:pPr>
            <a:r>
              <a:rPr lang="es-ES" sz="2400" dirty="0">
                <a:solidFill>
                  <a:prstClr val="black"/>
                </a:solidFill>
              </a:rPr>
              <a:t>la eficiencia térmica de esta central eléctrica</a:t>
            </a:r>
          </a:p>
          <a:p>
            <a:pPr marL="457200" indent="-457200" algn="just">
              <a:buAutoNum type="alphaLcParenR"/>
            </a:pPr>
            <a:r>
              <a:rPr lang="es-ES" sz="2400" dirty="0">
                <a:solidFill>
                  <a:prstClr val="black"/>
                </a:solidFill>
              </a:rPr>
              <a:t>la eficiencia térmica si el vapor se sobrecalienta a 600 °C en lugar de 350 °C</a:t>
            </a:r>
          </a:p>
          <a:p>
            <a:pPr marL="457200" indent="-457200" algn="just">
              <a:buAutoNum type="alphaLcParenR"/>
            </a:pPr>
            <a:r>
              <a:rPr lang="es-ES" sz="2400" dirty="0">
                <a:solidFill>
                  <a:prstClr val="black"/>
                </a:solidFill>
              </a:rPr>
              <a:t>la eficiencia térmica si la presión de la caldera se eleva a 15 MPa mientras la temperatura de entrada de la turbina se mantiene en 600 °C.</a:t>
            </a:r>
          </a:p>
          <a:p>
            <a:pPr marL="457200" indent="-457200" algn="just">
              <a:buAutoNum type="alphaLcParenR"/>
            </a:pPr>
            <a:endParaRPr lang="es-ES" sz="2400" dirty="0">
              <a:solidFill>
                <a:prstClr val="black"/>
              </a:solidFill>
            </a:endParaRPr>
          </a:p>
          <a:p>
            <a:pPr marL="0" indent="0" algn="just">
              <a:buNone/>
            </a:pPr>
            <a:r>
              <a:rPr lang="es-ES" sz="2400" dirty="0">
                <a:solidFill>
                  <a:prstClr val="black"/>
                </a:solidFill>
              </a:rPr>
              <a:t>Comente los resultados obtenidos.</a:t>
            </a:r>
          </a:p>
          <a:p>
            <a:pPr marL="0" indent="0" algn="just">
              <a:buNone/>
            </a:pPr>
            <a:endParaRPr lang="es-ES" sz="2400" dirty="0">
              <a:solidFill>
                <a:prstClr val="black"/>
              </a:solidFill>
            </a:endParaRPr>
          </a:p>
          <a:p>
            <a:pPr marL="0" indent="0" algn="just">
              <a:buNone/>
            </a:pPr>
            <a:endParaRPr lang="es-ES" sz="2400" dirty="0">
              <a:solidFill>
                <a:prstClr val="black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5AA9222-7147-BEFA-EDE6-31E08799474C}"/>
              </a:ext>
            </a:extLst>
          </p:cNvPr>
          <p:cNvSpPr txBox="1"/>
          <p:nvPr/>
        </p:nvSpPr>
        <p:spPr>
          <a:xfrm>
            <a:off x="9756292" y="6423581"/>
            <a:ext cx="2316371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45866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A1C323-3DCD-F3CA-C1B3-CAF2037F2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C9104164-AEC5-BC72-6FDE-C30EDAFE21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7368" y="333375"/>
            <a:ext cx="9814545" cy="1143000"/>
          </a:xfrm>
        </p:spPr>
        <p:txBody>
          <a:bodyPr>
            <a:normAutofit/>
          </a:bodyPr>
          <a:lstStyle/>
          <a:p>
            <a:r>
              <a:rPr lang="es-ES" altLang="en-US" sz="4000" dirty="0">
                <a:solidFill>
                  <a:schemeClr val="bg1"/>
                </a:solidFill>
              </a:rPr>
              <a:t>Ciclo Rankine ideal con recalentamiento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3FB30F4D-60FF-4560-1F8B-3E2231A5547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07367" y="1600200"/>
            <a:ext cx="11377265" cy="506888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ES" sz="2400" dirty="0">
                <a:solidFill>
                  <a:prstClr val="black"/>
                </a:solidFill>
              </a:rPr>
              <a:t>El ciclo Rankine ideal con recalentamiento difiere del ciclo Rankine ideal simple en que el proceso de expansión sucede en dos etapas.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9681FD4-7A1C-A618-9091-2DB5115BD12E}"/>
              </a:ext>
            </a:extLst>
          </p:cNvPr>
          <p:cNvSpPr txBox="1"/>
          <p:nvPr/>
        </p:nvSpPr>
        <p:spPr>
          <a:xfrm>
            <a:off x="9756292" y="6423581"/>
            <a:ext cx="2316371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8A0C055-4BEA-1034-32B4-C8BF18FDDB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7322" y="2000321"/>
            <a:ext cx="4892464" cy="31244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1890E9E-7C16-25D1-AB4C-2E9F8FCDD9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469" y="2755617"/>
            <a:ext cx="9235027" cy="4141956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C29CFF2-6756-929D-CFA8-067271D7CE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2064" y="2427929"/>
            <a:ext cx="4983912" cy="32768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78300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19544E-9476-361D-C849-50102A4B2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51EB3872-024C-70BA-9CE9-EC83C582D6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7368" y="333375"/>
            <a:ext cx="9814545" cy="1143000"/>
          </a:xfrm>
        </p:spPr>
        <p:txBody>
          <a:bodyPr>
            <a:normAutofit/>
          </a:bodyPr>
          <a:lstStyle/>
          <a:p>
            <a:r>
              <a:rPr lang="es-ES" altLang="en-US" sz="4000" dirty="0">
                <a:solidFill>
                  <a:schemeClr val="bg1"/>
                </a:solidFill>
              </a:rPr>
              <a:t>Ciclo Rankine ideal regenerativo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9846A953-86A5-DEF1-27E9-0229511D4B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07367" y="1600200"/>
            <a:ext cx="11377265" cy="506888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ES" sz="2400" b="1" dirty="0">
                <a:solidFill>
                  <a:prstClr val="black"/>
                </a:solidFill>
              </a:rPr>
              <a:t>Calentadores abiertos de agua de alimentación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E865D88-2776-3780-AF85-2BC9C0D00C46}"/>
              </a:ext>
            </a:extLst>
          </p:cNvPr>
          <p:cNvSpPr txBox="1"/>
          <p:nvPr/>
        </p:nvSpPr>
        <p:spPr>
          <a:xfrm>
            <a:off x="9756292" y="6423581"/>
            <a:ext cx="2316371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E81514B-1E53-94BF-70B1-BC707DC9FD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73" y="2127174"/>
            <a:ext cx="10493649" cy="454191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D150CF3-6A6B-171C-F75A-74541DE573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4072" y="1575335"/>
            <a:ext cx="4275190" cy="134885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8E750D2-028F-3DE0-CB2D-4AE2387D5C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80278" y="3059562"/>
            <a:ext cx="2423370" cy="1066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7604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1BD783-33F0-D3F2-6BF0-2AFEEF8EB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87B37EF9-2761-E1A0-E1B5-7C5FDF519A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7368" y="333375"/>
            <a:ext cx="9814545" cy="1143000"/>
          </a:xfrm>
        </p:spPr>
        <p:txBody>
          <a:bodyPr>
            <a:normAutofit/>
          </a:bodyPr>
          <a:lstStyle/>
          <a:p>
            <a:r>
              <a:rPr lang="es-ES" altLang="en-US" sz="4000" dirty="0">
                <a:solidFill>
                  <a:schemeClr val="bg1"/>
                </a:solidFill>
              </a:rPr>
              <a:t>Ciclo Rankine ideal regenerativo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6BA519CF-1124-9A77-60A9-DE0C65C002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07367" y="1600200"/>
            <a:ext cx="11377265" cy="506888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ES" sz="2400" b="1" dirty="0">
                <a:solidFill>
                  <a:prstClr val="black"/>
                </a:solidFill>
              </a:rPr>
              <a:t>Calentadores cerrados de agua de alimentación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46EAA47-E6C5-8154-ECD9-D5301F676436}"/>
              </a:ext>
            </a:extLst>
          </p:cNvPr>
          <p:cNvSpPr txBox="1"/>
          <p:nvPr/>
        </p:nvSpPr>
        <p:spPr>
          <a:xfrm>
            <a:off x="9756292" y="6423581"/>
            <a:ext cx="2316371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F77AA3D2-DFC1-F006-EC4F-3DA12979E8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604" y="1930012"/>
            <a:ext cx="11696789" cy="4739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737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752208-AF60-B4B9-8E1E-311641CC1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76BE9072-762B-621F-FC92-D13548A303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7368" y="333375"/>
            <a:ext cx="9814545" cy="1143000"/>
          </a:xfrm>
        </p:spPr>
        <p:txBody>
          <a:bodyPr>
            <a:normAutofit/>
          </a:bodyPr>
          <a:lstStyle/>
          <a:p>
            <a:r>
              <a:rPr lang="es-ES" altLang="en-US" sz="4000" dirty="0">
                <a:solidFill>
                  <a:schemeClr val="bg1"/>
                </a:solidFill>
              </a:rPr>
              <a:t>Ejercicios de aplicación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66BDA6FF-55BB-8F88-4E74-93EC1CA1E95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07367" y="1600200"/>
            <a:ext cx="11305257" cy="506888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ES" sz="2400" dirty="0">
                <a:solidFill>
                  <a:prstClr val="black"/>
                </a:solidFill>
              </a:rPr>
              <a:t>1) Un ciclo ideal de recalentamiento Rankine con agua como fluido de trabajo opera la entrada de la turbina de alta presión a 8 000 kPa y 450 °C; la entrada de la turbina de baja presión a 500 kPa y 500 °C, y el condensador a 10 kPa. Determine el flujo másico a través de la caldera que se necesita para que este sistema produzca una potencia neta de 5 000 kW, y la eficiencia térmica del ciclo.</a:t>
            </a:r>
          </a:p>
          <a:p>
            <a:pPr marL="0" indent="0" algn="just">
              <a:buNone/>
            </a:pPr>
            <a:endParaRPr lang="es-ES" sz="2400" dirty="0">
              <a:solidFill>
                <a:prstClr val="black"/>
              </a:solidFill>
            </a:endParaRPr>
          </a:p>
          <a:p>
            <a:pPr marL="0" indent="0" algn="just">
              <a:buNone/>
            </a:pPr>
            <a:r>
              <a:rPr lang="es-ES" sz="2400" dirty="0">
                <a:solidFill>
                  <a:prstClr val="black"/>
                </a:solidFill>
              </a:rPr>
              <a:t>2) Un ciclo Rankine ideal con recalentamiento con agua como el fluido de trabajo funciona con una presión en la caldera de 15 000 kPa, el recalentador a 2 000 kPa y el condensador a 100 kPa. La temperatura es de 450 °C a la entrada de las turbinas de alta y baja presión. El flujo másico a través del ciclo es de 1.74 kg/s. Determine la potencia usada por las bombas, la potencia producida por el ciclo, la tasa de transferencia de calor en el recalentador y la eficiencia térmica de este sistema.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D1EA77E-F397-4724-5D98-2A526B8AB3C1}"/>
              </a:ext>
            </a:extLst>
          </p:cNvPr>
          <p:cNvSpPr txBox="1"/>
          <p:nvPr/>
        </p:nvSpPr>
        <p:spPr>
          <a:xfrm>
            <a:off x="9756292" y="6423581"/>
            <a:ext cx="2316371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52472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37E9B9-0BAB-BF67-9C7A-B09FC241A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2A0D0563-9EE3-9FA2-D711-0C930737E0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7368" y="333375"/>
            <a:ext cx="9814545" cy="1143000"/>
          </a:xfrm>
        </p:spPr>
        <p:txBody>
          <a:bodyPr>
            <a:normAutofit/>
          </a:bodyPr>
          <a:lstStyle/>
          <a:p>
            <a:r>
              <a:rPr lang="es-ES" altLang="en-US" sz="4000" dirty="0">
                <a:solidFill>
                  <a:schemeClr val="bg1"/>
                </a:solidFill>
              </a:rPr>
              <a:t>Ejercicios de aplicación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902E1D40-A1D6-F69C-BC75-230BB6FCB0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07367" y="1600200"/>
            <a:ext cx="11305257" cy="506888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ES" sz="2400" dirty="0">
                <a:solidFill>
                  <a:prstClr val="black"/>
                </a:solidFill>
              </a:rPr>
              <a:t>3) Considere una central eléctrica de vapor que opera en el ciclo Rankine ideal con recalentamiento. El vapor entra a la turbina de alta presión a 15 MPa y 600 °C y se condensa a una presión de 10 kPa. Si el contenido de humedad del vapor a la salida de la turbina de baja presión no excede 10.4 por ciento, determine: a) la presión a la que el vapor se debe recalentarse, y b) la eficiencia térmica del ciclo. Suponga que el vapor se recalienta hasta la temperatura de entrada de la turbina de alta presión.</a:t>
            </a:r>
          </a:p>
          <a:p>
            <a:pPr marL="457200" indent="-457200" algn="just">
              <a:buAutoNum type="arabicParenR"/>
            </a:pPr>
            <a:endParaRPr lang="es-ES" sz="2400" dirty="0">
              <a:solidFill>
                <a:prstClr val="black"/>
              </a:solidFill>
            </a:endParaRPr>
          </a:p>
          <a:p>
            <a:pPr marL="0" indent="0" algn="just">
              <a:buNone/>
            </a:pPr>
            <a:r>
              <a:rPr lang="es-ES" sz="2400" dirty="0">
                <a:solidFill>
                  <a:prstClr val="black"/>
                </a:solidFill>
              </a:rPr>
              <a:t>4) Una planta termoeléctrica de vapor de agua opera en un ciclo Rankine ideal con recalentamiento entre los límites de presión de 15 MPa y 10 kPa. El flujo másico de vapor a través del ciclo es 12 kg/s. El vapor entra a ambas etapas de la turbina a 500 °C. Si el contenido de humedad del vapor a la salida de la turbina de baja presión no debe exceder 10 por ciento, determine a) la presión a la que tiene lugar el recalentamiento, b) la tasa total de entrada de calor a la caldera y c) la eficiencia térmica del ciclo. También muestre el ciclo en un diagrama T-s con respecto a las líneas de saturación.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30959C2-6417-79DC-1EAE-06A5775E6079}"/>
              </a:ext>
            </a:extLst>
          </p:cNvPr>
          <p:cNvSpPr txBox="1"/>
          <p:nvPr/>
        </p:nvSpPr>
        <p:spPr>
          <a:xfrm>
            <a:off x="9756292" y="6423581"/>
            <a:ext cx="2316371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15429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F0B4B0-5B77-DE7D-2391-260D0BC13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03BCFB86-0044-718B-0921-F2D9FB0016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7368" y="333375"/>
            <a:ext cx="9814545" cy="1143000"/>
          </a:xfrm>
        </p:spPr>
        <p:txBody>
          <a:bodyPr>
            <a:normAutofit/>
          </a:bodyPr>
          <a:lstStyle/>
          <a:p>
            <a:r>
              <a:rPr lang="es-ES" altLang="en-US" sz="4000" dirty="0">
                <a:solidFill>
                  <a:schemeClr val="bg1"/>
                </a:solidFill>
              </a:rPr>
              <a:t>Ejercicios de aplicación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945E2AFA-4958-6FAF-6B82-511A6A7F44F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07367" y="1600200"/>
            <a:ext cx="11305257" cy="506888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ES" sz="2400" dirty="0">
                <a:solidFill>
                  <a:prstClr val="black"/>
                </a:solidFill>
              </a:rPr>
              <a:t>5) Considere una planta termoeléctrica de vapor de agua que opera en el ciclo Rankine ideal con recalentamiento. La planta mantiene la caldera a 7.000 kPa, la sección de recalentamiento a 800 kPa, y el condensador a 10 kPa. La calidad del vapor húmedo a la salida de ambas turbinas es de 93 por ciento. Determine la temperatura a la entrada de cada turbina y la eficiencia térmica del ciclo.</a:t>
            </a:r>
          </a:p>
          <a:p>
            <a:pPr marL="0" indent="0" algn="just">
              <a:buNone/>
            </a:pPr>
            <a:endParaRPr lang="es-ES" sz="2400" dirty="0">
              <a:solidFill>
                <a:prstClr val="black"/>
              </a:solidFill>
            </a:endParaRPr>
          </a:p>
          <a:p>
            <a:pPr marL="0" indent="0" algn="just">
              <a:buNone/>
            </a:pPr>
            <a:r>
              <a:rPr lang="es-ES" sz="2400" dirty="0">
                <a:solidFill>
                  <a:prstClr val="black"/>
                </a:solidFill>
              </a:rPr>
              <a:t>6) Considere una central eléctrica de vapor que opera en un ciclo Rankine ideal regenerativo con un calentador abierto de agua de alimentación. El vapor entra a la turbina a 15 MPa y 600 °C, y se condensa en el condensador a una presión de 10 kPa. Una parte de vapor sale de la turbina a una presión de 1.2 MPa y entra al calentador abierto de agua de alimentación. Determine la fracción de vapor extraído de la turbina y la eficiencia térmica del ciclo.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807EB8E-8D55-B897-EB7F-0A98C62F3A07}"/>
              </a:ext>
            </a:extLst>
          </p:cNvPr>
          <p:cNvSpPr txBox="1"/>
          <p:nvPr/>
        </p:nvSpPr>
        <p:spPr>
          <a:xfrm>
            <a:off x="9756292" y="6423581"/>
            <a:ext cx="2316371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75206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30EDFC-38F7-D3C5-58E5-A00C45EC2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517905FD-06F7-BC7A-E37F-8820A1FA57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7368" y="333375"/>
            <a:ext cx="9814545" cy="1143000"/>
          </a:xfrm>
        </p:spPr>
        <p:txBody>
          <a:bodyPr>
            <a:normAutofit/>
          </a:bodyPr>
          <a:lstStyle/>
          <a:p>
            <a:r>
              <a:rPr lang="es-ES" altLang="en-US" sz="4000" dirty="0">
                <a:solidFill>
                  <a:schemeClr val="bg1"/>
                </a:solidFill>
              </a:rPr>
              <a:t>Ejercicios de aplicación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3BBC681F-A8AA-612A-0EFF-4B9EE184EE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07367" y="1600200"/>
            <a:ext cx="11305257" cy="506888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ES" sz="2400" dirty="0">
                <a:solidFill>
                  <a:prstClr val="black"/>
                </a:solidFill>
              </a:rPr>
              <a:t>7) Una planta termoeléctrica de vapor opera en un ciclo Rankine regenerativo ideal. El vapor entra a la turbina a 6 MPa y 450 °C y se condensa en el condensador a 20 kPa. Se extrae de la turbina vapor a 0.4 MPa para calentar el agua de alimentación en un calentador de agua de alimentación abierto. El agua sale del calentador de agua de alimentación como líquido saturado.</a:t>
            </a:r>
          </a:p>
          <a:p>
            <a:pPr marL="0" indent="0" algn="just">
              <a:buNone/>
            </a:pPr>
            <a:r>
              <a:rPr lang="es-ES" sz="2400" dirty="0">
                <a:solidFill>
                  <a:prstClr val="black"/>
                </a:solidFill>
              </a:rPr>
              <a:t>Muestre el ciclo en un diagrama T-s y determine: </a:t>
            </a:r>
          </a:p>
          <a:p>
            <a:pPr marL="457200" indent="-457200" algn="just">
              <a:buAutoNum type="alphaLcParenR"/>
            </a:pPr>
            <a:r>
              <a:rPr lang="es-ES" sz="2400" dirty="0">
                <a:solidFill>
                  <a:prstClr val="black"/>
                </a:solidFill>
              </a:rPr>
              <a:t>el trabajo neto realizado por kilogramo de vapor que fluye por la caldera </a:t>
            </a:r>
          </a:p>
          <a:p>
            <a:pPr marL="457200" indent="-457200" algn="just">
              <a:buAutoNum type="alphaLcParenR"/>
            </a:pPr>
            <a:r>
              <a:rPr lang="es-ES" sz="2400" dirty="0">
                <a:solidFill>
                  <a:prstClr val="black"/>
                </a:solidFill>
              </a:rPr>
              <a:t>la eficiencia térmica del ciclo.</a:t>
            </a:r>
          </a:p>
          <a:p>
            <a:pPr marL="0" indent="0" algn="just">
              <a:buNone/>
            </a:pPr>
            <a:endParaRPr lang="es-ES" sz="2400" dirty="0">
              <a:solidFill>
                <a:prstClr val="black"/>
              </a:solidFill>
            </a:endParaRPr>
          </a:p>
          <a:p>
            <a:pPr marL="0" indent="0" algn="just">
              <a:buNone/>
            </a:pPr>
            <a:r>
              <a:rPr lang="es-ES" sz="2400" dirty="0">
                <a:solidFill>
                  <a:prstClr val="black"/>
                </a:solidFill>
              </a:rPr>
              <a:t>Respuestas: a) 1 017 kJ/kg, b) 37.8 por ciento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609A8FF-64E9-6173-C6BE-06179516748A}"/>
              </a:ext>
            </a:extLst>
          </p:cNvPr>
          <p:cNvSpPr txBox="1"/>
          <p:nvPr/>
        </p:nvSpPr>
        <p:spPr>
          <a:xfrm>
            <a:off x="9756292" y="6423581"/>
            <a:ext cx="2316371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63129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C3878B-77D2-A064-480E-0ED51835B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5DF79DBF-8C82-A152-DED9-401B4F6451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7368" y="333375"/>
            <a:ext cx="9814545" cy="1143000"/>
          </a:xfrm>
        </p:spPr>
        <p:txBody>
          <a:bodyPr>
            <a:normAutofit/>
          </a:bodyPr>
          <a:lstStyle/>
          <a:p>
            <a:r>
              <a:rPr lang="es-ES" altLang="en-US" sz="4000" dirty="0">
                <a:solidFill>
                  <a:schemeClr val="bg1"/>
                </a:solidFill>
              </a:rPr>
              <a:t>Ejercicios de aplicación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025D1490-8AEE-6747-D3E6-B8D5A7027A4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07367" y="1600200"/>
            <a:ext cx="11305257" cy="506888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ES" sz="2400" dirty="0">
                <a:solidFill>
                  <a:prstClr val="black"/>
                </a:solidFill>
              </a:rPr>
              <a:t>8) Considere un ciclo Rankine regenerativo ideal de vapor con dos calentadores de agua de alimentación, uno cerrado y uno abierto. El vapor entra a la turbina a 10 MPa and 600 °C y escapa hacia el condensador a 10 kPa. Se extrae vapor de la turbina a 1.2 MPa para el calentador de agua de alimentación cerrado y a 0.6 MPa para el abierto. </a:t>
            </a:r>
            <a:r>
              <a:rPr lang="es-ES" sz="2400" dirty="0">
                <a:solidFill>
                  <a:prstClr val="black"/>
                </a:solidFill>
                <a:highlight>
                  <a:srgbClr val="FFFF00"/>
                </a:highlight>
              </a:rPr>
              <a:t>El agua de alimentación se calienta a la temperatura de condensación del vapor extraído </a:t>
            </a:r>
            <a:r>
              <a:rPr lang="es-ES" sz="2400" dirty="0">
                <a:solidFill>
                  <a:prstClr val="black"/>
                </a:solidFill>
              </a:rPr>
              <a:t>en el calentador de agua de alimentación cerrado. El vapor extraído sale del calentador cerrado como líquido saturado, que posteriormente se estrangula hacia el calentador abierto. Muestre el ciclo en un diagrama T-s con respecto a las líneas de saturación y determine: </a:t>
            </a:r>
          </a:p>
          <a:p>
            <a:pPr marL="0" indent="0" algn="just">
              <a:buNone/>
            </a:pPr>
            <a:r>
              <a:rPr lang="es-ES" sz="2400" dirty="0">
                <a:solidFill>
                  <a:prstClr val="black"/>
                </a:solidFill>
              </a:rPr>
              <a:t>a) la tasa de flujo másico del vapor a través de la caldera para una producción neta de potencia de 400 MW</a:t>
            </a:r>
          </a:p>
          <a:p>
            <a:pPr marL="0" indent="0" algn="just">
              <a:buNone/>
            </a:pPr>
            <a:r>
              <a:rPr lang="es-ES" sz="2400" dirty="0">
                <a:solidFill>
                  <a:prstClr val="black"/>
                </a:solidFill>
              </a:rPr>
              <a:t>b) la eficiencia térmica del ciclo.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753F9BE-3D0B-6F6D-0E4E-227E0D654616}"/>
              </a:ext>
            </a:extLst>
          </p:cNvPr>
          <p:cNvSpPr txBox="1"/>
          <p:nvPr/>
        </p:nvSpPr>
        <p:spPr>
          <a:xfrm>
            <a:off x="9756292" y="6423581"/>
            <a:ext cx="2316371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4558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192A49-0667-5FF4-1045-52E533278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68F91CAC-6836-C86D-70E4-2BE75BC29F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7368" y="333375"/>
            <a:ext cx="9814545" cy="1143000"/>
          </a:xfrm>
        </p:spPr>
        <p:txBody>
          <a:bodyPr>
            <a:normAutofit/>
          </a:bodyPr>
          <a:lstStyle/>
          <a:p>
            <a:r>
              <a:rPr lang="es-ES" altLang="en-US" sz="4000" dirty="0">
                <a:solidFill>
                  <a:schemeClr val="bg1"/>
                </a:solidFill>
              </a:rPr>
              <a:t>Ejercicios de aplicación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6B26A57-6D9A-7667-A6D7-D5B8FF6102C1}"/>
              </a:ext>
            </a:extLst>
          </p:cNvPr>
          <p:cNvSpPr txBox="1"/>
          <p:nvPr/>
        </p:nvSpPr>
        <p:spPr>
          <a:xfrm>
            <a:off x="9756292" y="6423581"/>
            <a:ext cx="2316371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DE323BF-90A7-102D-2E61-1C57D9F082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3672" y="1394002"/>
            <a:ext cx="6612620" cy="5398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5815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35971D-8D02-89BA-1EF9-6E0A17EF7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E6EAF3A1-1956-7669-C803-5716CF6538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7368" y="333375"/>
            <a:ext cx="9814545" cy="1143000"/>
          </a:xfrm>
        </p:spPr>
        <p:txBody>
          <a:bodyPr>
            <a:normAutofit/>
          </a:bodyPr>
          <a:lstStyle/>
          <a:p>
            <a:r>
              <a:rPr lang="es-ES" altLang="en-US" sz="4000" dirty="0">
                <a:solidFill>
                  <a:schemeClr val="bg1"/>
                </a:solidFill>
              </a:rPr>
              <a:t>Ejercicios de aplicación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EF1CF27E-5AA2-1FB2-A53B-7B317B848E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07367" y="1600200"/>
            <a:ext cx="11305257" cy="506888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ES" sz="2400" dirty="0">
                <a:solidFill>
                  <a:prstClr val="black"/>
                </a:solidFill>
              </a:rPr>
              <a:t>9) Considere una central eléctrica de vapor que opera en un ciclo </a:t>
            </a:r>
            <a:r>
              <a:rPr lang="es-ES" sz="2400" dirty="0">
                <a:solidFill>
                  <a:prstClr val="black"/>
                </a:solidFill>
                <a:highlight>
                  <a:srgbClr val="FFFF00"/>
                </a:highlight>
              </a:rPr>
              <a:t>Rankine ideal</a:t>
            </a:r>
            <a:r>
              <a:rPr lang="es-ES" sz="2400" dirty="0">
                <a:solidFill>
                  <a:prstClr val="black"/>
                </a:solidFill>
              </a:rPr>
              <a:t> regenerativo con recalentamiento, con dos calentadores de agua de alimentación, uno abierto y otro cerrado, además de un recalentador. El vapor entra a la turbina a 15 MPa y 600 °C y se condensa a una presión de 10 kPa. Una parte de vapor se extrae de la turbina a 4 MPa para el calentador cerrado, mientras que el resto se recalienta a la misma presión hasta 600 °C. El vapor extraído se condensa por completo en el calentador y se bombea hasta 15 MPa antes de mezclarse con el agua de alimentación a la misma presión. El vapor para el calentador abierto se extrae de la turbina de baja presión a una presión de 0.5 MPa. Determine las fracciones de vapor extraído de la turbina, así como la eficiencia térmica del ciclo.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CC15CAB-968B-96DB-D323-00181E1D738E}"/>
              </a:ext>
            </a:extLst>
          </p:cNvPr>
          <p:cNvSpPr txBox="1"/>
          <p:nvPr/>
        </p:nvSpPr>
        <p:spPr>
          <a:xfrm>
            <a:off x="9756292" y="6423581"/>
            <a:ext cx="2316371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79866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51FB33-90BC-1DE9-D4B4-E73007F52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E590333F-18D8-29BF-3D23-CF4B632C46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7368" y="333375"/>
            <a:ext cx="9814545" cy="1143000"/>
          </a:xfrm>
        </p:spPr>
        <p:txBody>
          <a:bodyPr>
            <a:normAutofit/>
          </a:bodyPr>
          <a:lstStyle/>
          <a:p>
            <a:r>
              <a:rPr lang="es-ES" altLang="en-US" sz="4000" dirty="0">
                <a:solidFill>
                  <a:schemeClr val="bg1"/>
                </a:solidFill>
              </a:rPr>
              <a:t>Ejercicios de aplicación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9FB9E06-571B-5528-3F25-A104F35847D8}"/>
              </a:ext>
            </a:extLst>
          </p:cNvPr>
          <p:cNvSpPr txBox="1"/>
          <p:nvPr/>
        </p:nvSpPr>
        <p:spPr>
          <a:xfrm>
            <a:off x="9756292" y="6423581"/>
            <a:ext cx="2316371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5DD3D16-E5A5-BD2D-2F40-380727E7DA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349" y="1382244"/>
            <a:ext cx="11103302" cy="5410669"/>
          </a:xfrm>
          <a:prstGeom prst="rect">
            <a:avLst/>
          </a:prstGeom>
        </p:spPr>
      </p:pic>
      <p:pic>
        <p:nvPicPr>
          <p:cNvPr id="8" name="Imagen 7" descr="Imagen que contiene Diagrama&#10;&#10;El contenido generado por IA puede ser incorrecto.">
            <a:extLst>
              <a:ext uri="{FF2B5EF4-FFF2-40B4-BE49-F238E27FC236}">
                <a16:creationId xmlns:a16="http://schemas.microsoft.com/office/drawing/2014/main" id="{7E89A8C0-E9EF-9E22-8E79-46BDA33686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5115" y="2728771"/>
            <a:ext cx="178797" cy="330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13420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6957</TotalTime>
  <Words>1544</Words>
  <Application>Microsoft Office PowerPoint</Application>
  <PresentationFormat>Panorámica</PresentationFormat>
  <Paragraphs>60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Tema de Office</vt:lpstr>
      <vt:lpstr>MÁQUINAS TÉRMICAS</vt:lpstr>
      <vt:lpstr>Mejoramiento de la eficiencia ciclo Rankine</vt:lpstr>
      <vt:lpstr>Mejoramiento de la eficiencia ciclo Rankine</vt:lpstr>
      <vt:lpstr>Mejoramiento de la eficiencia ciclo Rankine</vt:lpstr>
      <vt:lpstr>Ejercicios de aplicación</vt:lpstr>
      <vt:lpstr>Ciclo Rankine ideal con recalentamiento</vt:lpstr>
      <vt:lpstr>Ciclo Rankine ideal regenerativo</vt:lpstr>
      <vt:lpstr>Ciclo Rankine ideal regenerativo</vt:lpstr>
      <vt:lpstr>Ejercicios de aplicación</vt:lpstr>
      <vt:lpstr>Ejercicios de aplicación</vt:lpstr>
      <vt:lpstr>Ejercicios de aplicación</vt:lpstr>
      <vt:lpstr>Ejercicios de aplicación</vt:lpstr>
      <vt:lpstr>Ejercicios de aplicación</vt:lpstr>
      <vt:lpstr>Ejercicios de aplicación</vt:lpstr>
      <vt:lpstr>Ejercicios de aplicación</vt:lpstr>
      <vt:lpstr>Ejercicios de aplicación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Jonathan Loor</dc:creator>
  <cp:lastModifiedBy>JONATHAN GABRIEL LOOR BAUTISTA</cp:lastModifiedBy>
  <cp:revision>58</cp:revision>
  <dcterms:created xsi:type="dcterms:W3CDTF">2009-09-22T20:21:09Z</dcterms:created>
  <dcterms:modified xsi:type="dcterms:W3CDTF">2026-01-21T20:40:23Z</dcterms:modified>
</cp:coreProperties>
</file>